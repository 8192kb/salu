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35~45초. 지난주에는 계정과 기록 저장, React 화면을 연결하겠다고 말씀드렸습니다. 현재는 실제 로그인과 기록·경과 입력, 다음 커트 준비 화면까지 연결했습니다. 다만 기록은 메모리에만 보관돼서 재접속 후 유지와 계정별 기록 권한은 아직 남아 있습니다.
근거: 실제 6주차_캡스톤발표.pptx의 12장, docs/prototype-plan.md 최신 홈 구현 결과, docs/login.md. 인증 연결을 전체 권한 완료로 말하지 않습니다. 기록 DB·사진 업로드·상담 전송은 미구현입니다.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60~80초. 이번에는 목업을 보여주는 단계에서 실제 입력하고 이동하는 단계로 넘어갔습니다. 커트한 날의 기록에 경과를 추가하고, 필요한 내용만 골라 다음 커트 요청을 정리할 수 있습니다. 경과는 꼭 작성할 필요가 없고, 준비 과정은 자료 선택·요청 작성·내용 확인 순서입니다. 여기까지는 준비본이며 실제 디자이너에게 전송되지는 않습니다.
캡처: 2026-10-10~11 정상 React 5174·Spring 8081 실행, Chromium 390×844, 비로그인. 가상 커트·샘플 사진·경과 작성 → 메모·경과 선택 → 요청 작성 → 내용 확인 → 준비 목록을 실제 조작했습니다. 사진은 기존 CC0 예시 사진이며 실제 시술/사용자 자료가 아닙니다. 선택되지 않은 사진은 이번 준비본에 포함하지 않았습니다. 이미지 출처: Alex Neman, CC0, https://commons.wikimedia.org/wiki/File:Man_with_brown_bob_haircut_from_behind.jpg . 이미지·문구는 기록 DB 저장 증거가 아닙니다. 내용 확인 캡처는 작성한 요청과 준비 마치기 버튼을 볼 수 있는 실제 스크롤 위치이며, 같은 가상 자료로 재현했습니다. 짧은 시연은 캡처 설명 일부를 대체하고 시간에 추가하지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45~60초. 흐름을 확인하면서 처음 사용하는 사람이 무엇부터 해야 하는지 모호한 부분을 발견했습니다. 그래서 설명 홈을 만들고 개인 기록과 예시를 나눴습니다. 기록 상세에는 다음 커트 준비를 강조하고, 날짜 표시와 선택 정보의 펼침 동작도 정리했습니다. PC·모바일 화면 흐름과 실제 서버 로그인을 나눠 검증했습니다.
근거: docs/prototype-plan.md 날짜/선택 정보 보완과 최신 홈·흐름 구현 결과. 54개는 서버 없는 화면 전용 E2E, 11개는 실제 인증 E2E입니다. 외부 사용자 평가가 아니며 기록 DB 저장 검증도 아닙니다. 마지막 프로필 정보 순서 조정 후 영향받는 기존 12개를 추가 재검증했습니다.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35~45초. 다음은 저장 범위를 확정하고 실제 기록을 저장·조회하는 부분을 연결할 예정입니다. 기록 유지와 다른 계정의 접근 차단을 확인한 뒤 실제 디자이너 상담을 이어 붙이겠습니다. 기기 보관과 서버 백업의 범위는 그 전에 정리해야 합니다. 8주차는 시험으로 발표가 없어, 이후 일정은 남은 작업량을 보고 조정하겠습니다.
이 순서는 후속 제안입니다. 기기 저장·파일 백업·서버 기록 DB·실제 상담·사진 업로드는 미구현이고 납기를 약속하지 않습니다. 8주차 발표 없음은 사용자 확인 근거이며 정확한 발표/시험 날짜는 넣지 않습니다. 개인 자료의 저장 수명과 인증 경계는 실제 저장 기능 구현 전에 확정해야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질문 대응용 숨김 슬라이드. test:e2e 54개(46.5초): PC 1440×1000, 모바일 390×844, 화면 전용 모드이며 서버/외부 HTTP·영구 저장 없이 입력·초안·선택본·분리 흐름 검증. test:auth 11개(18.9초): 실제 Spring8081·MySQL3307에서 로그인 실패/성공·회원 조회·세션 교체·cookie·새로고침·로그아웃 확인. 장애·CSRF 오류 일부는 브라우저 응답 재현이며 실제 MySQL 중단 검증이 아닙니다. 마지막 디자이너 프로필 배치 변경 후 영향받는 기존 12개 추가 통과, build·format:check 통과. 정상 서버의 320·390·1440px 주요 화면에서 가로 넘침·JS 오류 없음. 이 숫자는 외부 사용성 평가나 기록 DB·상담 참여자 검증을 뜻하지 않습니다. 근거: docs/prototype-plan.md, docs/login.md. 본문 PDF에서는 이 슬라이드를 제외합니다.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94360" y="365760"/>
            <a:ext cx="8229600" cy="274320"/>
          </a:xfrm>
          <a:prstGeom prst="rect">
            <a:avLst/>
          </a:prstGeom>
          <a:noFill/>
          <a:ln/>
        </p:spPr>
        <p:txBody>
          <a:bodyPr wrap="square" lIns="0" tIns="0" rIns="0" bIns="0" rtlCol="0" anchor="ctr"/>
          <a:lstStyle/>
          <a:p>
            <a:pPr indent="0" marL="0">
              <a:buNone/>
            </a:pPr>
            <a:r>
              <a:rPr lang="ko-KR" altLang="en-US" sz="1500" b="1" dirty="0">
                <a:solidFill>
                  <a:srgbClr val="3C57B5"/>
                </a:solidFill>
                <a:latin typeface="Noto Sans CJK KR" pitchFamily="34" charset="0"/>
                <a:ea typeface="Noto Sans CJK KR" pitchFamily="34" charset="-122"/>
                <a:cs typeface="Noto Sans CJK KR" pitchFamily="34" charset="-120"/>
              </a:rPr>
              <a:t>SALU · 7주차 개발 진행상황</a:t>
            </a:r>
            <a:endParaRPr lang="ko-KR" sz="1500" dirty="0"/>
          </a:p>
        </p:txBody>
      </p:sp>
      <p:sp>
        <p:nvSpPr>
          <p:cNvPr id="3" name="Text 1"/>
          <p:cNvSpPr/>
          <p:nvPr/>
        </p:nvSpPr>
        <p:spPr>
          <a:xfrm>
            <a:off x="594360" y="914400"/>
            <a:ext cx="10972800" cy="548640"/>
          </a:xfrm>
          <a:prstGeom prst="rect">
            <a:avLst/>
          </a:prstGeom>
          <a:noFill/>
          <a:ln/>
        </p:spPr>
        <p:txBody>
          <a:bodyPr wrap="square" lIns="0" tIns="0" rIns="0" bIns="0" rtlCol="0" anchor="ctr"/>
          <a:lstStyle/>
          <a:p>
            <a:pPr indent="0" marL="0">
              <a:buNone/>
            </a:pPr>
            <a:r>
              <a:rPr lang="ko-KR" altLang="en-US" sz="3100" b="1" dirty="0">
                <a:solidFill>
                  <a:srgbClr val="202A3E"/>
                </a:solidFill>
                <a:latin typeface="Noto Sans CJK KR" pitchFamily="34" charset="0"/>
                <a:ea typeface="Noto Sans CJK KR" pitchFamily="34" charset="-122"/>
                <a:cs typeface="Noto Sans CJK KR" pitchFamily="34" charset="-120"/>
              </a:rPr>
              <a:t>이번 주 개발 진행 상황</a:t>
            </a:r>
            <a:endParaRPr lang="ko-KR" sz="3100" dirty="0"/>
          </a:p>
        </p:txBody>
      </p:sp>
      <p:sp>
        <p:nvSpPr>
          <p:cNvPr id="4" name="Shape 2"/>
          <p:cNvSpPr/>
          <p:nvPr/>
        </p:nvSpPr>
        <p:spPr>
          <a:xfrm>
            <a:off x="594360" y="6428232"/>
            <a:ext cx="11000232" cy="0"/>
          </a:xfrm>
          <a:prstGeom prst="line">
            <a:avLst/>
          </a:prstGeom>
          <a:noFill/>
          <a:ln w="12700">
            <a:solidFill>
              <a:srgbClr val="D9E4E0"/>
            </a:solidFill>
            <a:prstDash val="solid"/>
          </a:ln>
        </p:spPr>
      </p:sp>
      <p:sp>
        <p:nvSpPr>
          <p:cNvPr id="5" name="Text 3"/>
          <p:cNvSpPr/>
          <p:nvPr/>
        </p:nvSpPr>
        <p:spPr>
          <a:xfrm>
            <a:off x="594360" y="6519672"/>
            <a:ext cx="822960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진행보고안 · 2026.10.10 기준</a:t>
            </a:r>
            <a:endParaRPr lang="ko-KR" sz="1000" dirty="0"/>
          </a:p>
        </p:txBody>
      </p:sp>
      <p:sp>
        <p:nvSpPr>
          <p:cNvPr id="6" name="Text 4"/>
          <p:cNvSpPr/>
          <p:nvPr/>
        </p:nvSpPr>
        <p:spPr>
          <a:xfrm>
            <a:off x="9262872" y="6510528"/>
            <a:ext cx="2331720" cy="201168"/>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1 / 4</a:t>
            </a:r>
            <a:endParaRPr lang="ko-KR" sz="1000" dirty="0"/>
          </a:p>
        </p:txBody>
      </p:sp>
      <p:sp>
        <p:nvSpPr>
          <p:cNvPr id="7" name="Text 5"/>
          <p:cNvSpPr/>
          <p:nvPr/>
        </p:nvSpPr>
        <p:spPr>
          <a:xfrm>
            <a:off x="822960" y="1819656"/>
            <a:ext cx="2788920" cy="365760"/>
          </a:xfrm>
          <a:prstGeom prst="rect">
            <a:avLst/>
          </a:prstGeom>
          <a:noFill/>
          <a:ln/>
        </p:spPr>
        <p:txBody>
          <a:bodyPr wrap="square" lIns="0" tIns="0" rIns="0" bIns="0" rtlCol="0" anchor="ctr"/>
          <a:lstStyle/>
          <a:p>
            <a:pPr indent="0" marL="0">
              <a:buNone/>
            </a:pPr>
            <a:r>
              <a:rPr lang="ko-KR" altLang="en-US" sz="2000" b="1" dirty="0">
                <a:solidFill>
                  <a:srgbClr val="3C57B5"/>
                </a:solidFill>
                <a:latin typeface="Noto Sans CJK KR" pitchFamily="34" charset="0"/>
                <a:ea typeface="Noto Sans CJK KR" pitchFamily="34" charset="-122"/>
                <a:cs typeface="Noto Sans CJK KR" pitchFamily="34" charset="-120"/>
              </a:rPr>
              <a:t>6주차 예고</a:t>
            </a:r>
            <a:endParaRPr lang="ko-KR" sz="2000" dirty="0"/>
          </a:p>
        </p:txBody>
      </p:sp>
      <p:sp>
        <p:nvSpPr>
          <p:cNvPr id="8" name="Text 6"/>
          <p:cNvSpPr/>
          <p:nvPr/>
        </p:nvSpPr>
        <p:spPr>
          <a:xfrm>
            <a:off x="3767328" y="1819656"/>
            <a:ext cx="4608576" cy="365760"/>
          </a:xfrm>
          <a:prstGeom prst="rect">
            <a:avLst/>
          </a:prstGeom>
          <a:noFill/>
          <a:ln/>
        </p:spPr>
        <p:txBody>
          <a:bodyPr wrap="square" lIns="0" tIns="0" rIns="0" bIns="0" rtlCol="0" anchor="ctr"/>
          <a:lstStyle/>
          <a:p>
            <a:pP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현재 결과</a:t>
            </a:r>
            <a:endParaRPr lang="ko-KR" sz="2000" dirty="0"/>
          </a:p>
        </p:txBody>
      </p:sp>
      <p:sp>
        <p:nvSpPr>
          <p:cNvPr id="9" name="Text 7"/>
          <p:cNvSpPr/>
          <p:nvPr/>
        </p:nvSpPr>
        <p:spPr>
          <a:xfrm>
            <a:off x="9162288" y="1819656"/>
            <a:ext cx="2057400" cy="365760"/>
          </a:xfrm>
          <a:prstGeom prst="rect">
            <a:avLst/>
          </a:prstGeom>
          <a:noFill/>
          <a:ln/>
        </p:spPr>
        <p:txBody>
          <a:bodyPr wrap="square" lIns="0" tIns="0" rIns="0" bIns="0" rtlCol="0" anchor="ctr"/>
          <a:lstStyle/>
          <a:p>
            <a:pPr indent="0" marL="0">
              <a:buNone/>
            </a:pPr>
            <a:r>
              <a:rPr lang="ko-KR" altLang="en-US" sz="2000" b="1" dirty="0">
                <a:solidFill>
                  <a:srgbClr val="646C7D"/>
                </a:solidFill>
                <a:latin typeface="Noto Sans CJK KR" pitchFamily="34" charset="0"/>
                <a:ea typeface="Noto Sans CJK KR" pitchFamily="34" charset="-122"/>
                <a:cs typeface="Noto Sans CJK KR" pitchFamily="34" charset="-120"/>
              </a:rPr>
              <a:t>진행 상태</a:t>
            </a:r>
            <a:endParaRPr lang="ko-KR" sz="2000" dirty="0"/>
          </a:p>
        </p:txBody>
      </p:sp>
      <p:sp>
        <p:nvSpPr>
          <p:cNvPr id="10" name="Shape 8"/>
          <p:cNvSpPr/>
          <p:nvPr/>
        </p:nvSpPr>
        <p:spPr>
          <a:xfrm>
            <a:off x="594360" y="2414016"/>
            <a:ext cx="11000232" cy="868680"/>
          </a:xfrm>
          <a:prstGeom prst="rect">
            <a:avLst/>
          </a:prstGeom>
          <a:solidFill>
            <a:srgbClr val="FFFFFF"/>
          </a:solidFill>
          <a:ln w="10160">
            <a:solidFill>
              <a:srgbClr val="D9E4E0"/>
            </a:solidFill>
            <a:prstDash val="solid"/>
          </a:ln>
        </p:spPr>
      </p:sp>
      <p:sp>
        <p:nvSpPr>
          <p:cNvPr id="11" name="Text 9"/>
          <p:cNvSpPr/>
          <p:nvPr/>
        </p:nvSpPr>
        <p:spPr>
          <a:xfrm>
            <a:off x="822960" y="2587752"/>
            <a:ext cx="2834640" cy="493776"/>
          </a:xfrm>
          <a:prstGeom prst="rect">
            <a:avLst/>
          </a:prstGeom>
          <a:noFill/>
          <a:ln/>
        </p:spPr>
        <p:txBody>
          <a:bodyPr wrap="square" lIns="0" tIns="0" rIns="0" bIns="0" rtlCol="0" anchor="ctr"/>
          <a:lstStyle/>
          <a:p>
            <a:pPr indent="0" marL="0">
              <a:buNone/>
            </a:pPr>
            <a:r>
              <a:rPr lang="ko-KR" altLang="en-US" sz="2100" b="1" dirty="0">
                <a:solidFill>
                  <a:srgbClr val="202A3E"/>
                </a:solidFill>
                <a:latin typeface="Noto Sans CJK KR" pitchFamily="34" charset="0"/>
                <a:ea typeface="Noto Sans CJK KR" pitchFamily="34" charset="-122"/>
                <a:cs typeface="Noto Sans CJK KR" pitchFamily="34" charset="-120"/>
              </a:rPr>
              <a:t>계정·권한 연결</a:t>
            </a:r>
            <a:endParaRPr lang="ko-KR" sz="2100" dirty="0"/>
          </a:p>
        </p:txBody>
      </p:sp>
      <p:sp>
        <p:nvSpPr>
          <p:cNvPr id="12" name="Text 10"/>
          <p:cNvSpPr/>
          <p:nvPr/>
        </p:nvSpPr>
        <p:spPr>
          <a:xfrm>
            <a:off x="3767328" y="2542032"/>
            <a:ext cx="5120640" cy="612648"/>
          </a:xfrm>
          <a:prstGeom prst="rect">
            <a:avLst/>
          </a:prstGeom>
          <a:noFill/>
          <a:ln/>
        </p:spPr>
        <p:txBody>
          <a:bodyPr wrap="square" lIns="0" tIns="0" rIns="0" bIns="0" rtlCol="0" anchor="ctr"/>
          <a:lstStyle/>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실제 로그인·회원 확인·로그아웃</a:t>
            </a:r>
            <a:endParaRPr lang="ko-KR" sz="2000" dirty="0"/>
          </a:p>
        </p:txBody>
      </p:sp>
      <p:sp>
        <p:nvSpPr>
          <p:cNvPr id="13" name="Shape 11"/>
          <p:cNvSpPr/>
          <p:nvPr/>
        </p:nvSpPr>
        <p:spPr>
          <a:xfrm>
            <a:off x="9006840" y="2505456"/>
            <a:ext cx="2386584" cy="685800"/>
          </a:xfrm>
          <a:prstGeom prst="rect">
            <a:avLst/>
          </a:prstGeom>
          <a:solidFill>
            <a:srgbClr val="E8F2EE"/>
          </a:solidFill>
          <a:ln w="10160">
            <a:solidFill>
              <a:srgbClr val="E8F2EE"/>
            </a:solidFill>
            <a:prstDash val="solid"/>
          </a:ln>
        </p:spPr>
      </p:sp>
      <p:sp>
        <p:nvSpPr>
          <p:cNvPr id="14" name="Text 12"/>
          <p:cNvSpPr/>
          <p:nvPr/>
        </p:nvSpPr>
        <p:spPr>
          <a:xfrm>
            <a:off x="9116568" y="2532888"/>
            <a:ext cx="2176272" cy="621792"/>
          </a:xfrm>
          <a:prstGeom prst="rect">
            <a:avLst/>
          </a:prstGeom>
          <a:noFill/>
          <a:ln/>
        </p:spPr>
        <p:txBody>
          <a:bodyPr wrap="square" lIns="0" tIns="0" rIns="0" bIns="0" rtlCol="0" anchor="ctr"/>
          <a:lstStyle/>
          <a:p>
            <a:pPr algn="ctr" indent="0" marL="0">
              <a:buNone/>
            </a:pPr>
            <a:r>
              <a:rPr lang="ko-KR" altLang="en-US" sz="1700" b="1" dirty="0">
                <a:solidFill>
                  <a:srgbClr val="155E59"/>
                </a:solidFill>
                <a:latin typeface="Noto Sans CJK KR" pitchFamily="34" charset="0"/>
                <a:ea typeface="Noto Sans CJK KR" pitchFamily="34" charset="-122"/>
                <a:cs typeface="Noto Sans CJK KR" pitchFamily="34" charset="-120"/>
              </a:rPr>
              <a:t>인증 연결</a:t>
            </a:r>
            <a:endParaRPr lang="ko-KR" sz="1700" dirty="0"/>
          </a:p>
          <a:p>
            <a:pPr algn="ctr" indent="0" marL="0">
              <a:buNone/>
            </a:pPr>
            <a:r>
              <a:rPr lang="ko-KR" altLang="en-US" sz="1700" b="1" dirty="0">
                <a:solidFill>
                  <a:srgbClr val="155E59"/>
                </a:solidFill>
                <a:latin typeface="Noto Sans CJK KR" pitchFamily="34" charset="0"/>
                <a:ea typeface="Noto Sans CJK KR" pitchFamily="34" charset="-122"/>
                <a:cs typeface="Noto Sans CJK KR" pitchFamily="34" charset="-120"/>
              </a:rPr>
              <a:t>기록 권한은 후속</a:t>
            </a:r>
            <a:endParaRPr lang="ko-KR" sz="1700" dirty="0"/>
          </a:p>
        </p:txBody>
      </p:sp>
      <p:sp>
        <p:nvSpPr>
          <p:cNvPr id="15" name="Shape 13"/>
          <p:cNvSpPr/>
          <p:nvPr/>
        </p:nvSpPr>
        <p:spPr>
          <a:xfrm>
            <a:off x="594360" y="3438144"/>
            <a:ext cx="11000232" cy="868680"/>
          </a:xfrm>
          <a:prstGeom prst="rect">
            <a:avLst/>
          </a:prstGeom>
          <a:solidFill>
            <a:srgbClr val="FFFFFF"/>
          </a:solidFill>
          <a:ln w="10160">
            <a:solidFill>
              <a:srgbClr val="D9E4E0"/>
            </a:solidFill>
            <a:prstDash val="solid"/>
          </a:ln>
        </p:spPr>
      </p:sp>
      <p:sp>
        <p:nvSpPr>
          <p:cNvPr id="16" name="Text 14"/>
          <p:cNvSpPr/>
          <p:nvPr/>
        </p:nvSpPr>
        <p:spPr>
          <a:xfrm>
            <a:off x="822960" y="3611880"/>
            <a:ext cx="2834640" cy="493776"/>
          </a:xfrm>
          <a:prstGeom prst="rect">
            <a:avLst/>
          </a:prstGeom>
          <a:noFill/>
          <a:ln/>
        </p:spPr>
        <p:txBody>
          <a:bodyPr wrap="square" lIns="0" tIns="0" rIns="0" bIns="0" rtlCol="0" anchor="ctr"/>
          <a:lstStyle/>
          <a:p>
            <a:pPr indent="0" marL="0">
              <a:buNone/>
            </a:pPr>
            <a:r>
              <a:rPr lang="ko-KR" altLang="en-US" sz="2100" b="1" dirty="0">
                <a:solidFill>
                  <a:srgbClr val="202A3E"/>
                </a:solidFill>
                <a:latin typeface="Noto Sans CJK KR" pitchFamily="34" charset="0"/>
                <a:ea typeface="Noto Sans CJK KR" pitchFamily="34" charset="-122"/>
                <a:cs typeface="Noto Sans CJK KR" pitchFamily="34" charset="-120"/>
              </a:rPr>
              <a:t>커트·경과 저장·조회</a:t>
            </a:r>
            <a:endParaRPr lang="ko-KR" sz="2100" dirty="0"/>
          </a:p>
        </p:txBody>
      </p:sp>
      <p:sp>
        <p:nvSpPr>
          <p:cNvPr id="17" name="Text 15"/>
          <p:cNvSpPr/>
          <p:nvPr/>
        </p:nvSpPr>
        <p:spPr>
          <a:xfrm>
            <a:off x="3767328" y="3566160"/>
            <a:ext cx="5120640" cy="612648"/>
          </a:xfrm>
          <a:prstGeom prst="rect">
            <a:avLst/>
          </a:prstGeom>
          <a:noFill/>
          <a:ln/>
        </p:spPr>
        <p:txBody>
          <a:bodyPr wrap="square" lIns="0" tIns="0" rIns="0" bIns="0" rtlCol="0" anchor="ctr"/>
          <a:lstStyle/>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입력·수정·조회 화면</a:t>
            </a:r>
            <a:endParaRPr lang="ko-KR" sz="2000" dirty="0"/>
          </a:p>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기록은 메모리 보관</a:t>
            </a:r>
            <a:endParaRPr lang="ko-KR" sz="2000" dirty="0"/>
          </a:p>
        </p:txBody>
      </p:sp>
      <p:sp>
        <p:nvSpPr>
          <p:cNvPr id="18" name="Shape 16"/>
          <p:cNvSpPr/>
          <p:nvPr/>
        </p:nvSpPr>
        <p:spPr>
          <a:xfrm>
            <a:off x="9006840" y="3529584"/>
            <a:ext cx="2386584" cy="685800"/>
          </a:xfrm>
          <a:prstGeom prst="rect">
            <a:avLst/>
          </a:prstGeom>
          <a:solidFill>
            <a:srgbClr val="F7EBE3"/>
          </a:solidFill>
          <a:ln w="10160">
            <a:solidFill>
              <a:srgbClr val="F7EBE3"/>
            </a:solidFill>
            <a:prstDash val="solid"/>
          </a:ln>
        </p:spPr>
      </p:sp>
      <p:sp>
        <p:nvSpPr>
          <p:cNvPr id="19" name="Text 17"/>
          <p:cNvSpPr/>
          <p:nvPr/>
        </p:nvSpPr>
        <p:spPr>
          <a:xfrm>
            <a:off x="9116568" y="3557016"/>
            <a:ext cx="2176272" cy="621792"/>
          </a:xfrm>
          <a:prstGeom prst="rect">
            <a:avLst/>
          </a:prstGeom>
          <a:noFill/>
          <a:ln/>
        </p:spPr>
        <p:txBody>
          <a:bodyPr wrap="square" lIns="0" tIns="0" rIns="0" bIns="0" rtlCol="0" anchor="ctr"/>
          <a:lstStyle/>
          <a:p>
            <a:pPr algn="ctr" indent="0" marL="0">
              <a:buNone/>
            </a:pPr>
            <a:r>
              <a:rPr lang="ko-KR" altLang="en-US" sz="1700" b="1" dirty="0">
                <a:solidFill>
                  <a:srgbClr val="B96237"/>
                </a:solidFill>
                <a:latin typeface="Noto Sans CJK KR" pitchFamily="34" charset="0"/>
                <a:ea typeface="Noto Sans CJK KR" pitchFamily="34" charset="-122"/>
                <a:cs typeface="Noto Sans CJK KR" pitchFamily="34" charset="-120"/>
              </a:rPr>
              <a:t>화면 구현</a:t>
            </a:r>
            <a:endParaRPr lang="ko-KR" sz="1700" dirty="0"/>
          </a:p>
          <a:p>
            <a:pPr algn="ctr" indent="0" marL="0">
              <a:buNone/>
            </a:pPr>
            <a:r>
              <a:rPr lang="ko-KR" altLang="en-US" sz="1700" b="1" dirty="0">
                <a:solidFill>
                  <a:srgbClr val="B96237"/>
                </a:solidFill>
                <a:latin typeface="Noto Sans CJK KR" pitchFamily="34" charset="0"/>
                <a:ea typeface="Noto Sans CJK KR" pitchFamily="34" charset="-122"/>
                <a:cs typeface="Noto Sans CJK KR" pitchFamily="34" charset="-120"/>
              </a:rPr>
              <a:t>영구 저장은 후속</a:t>
            </a:r>
            <a:endParaRPr lang="ko-KR" sz="1700" dirty="0"/>
          </a:p>
        </p:txBody>
      </p:sp>
      <p:sp>
        <p:nvSpPr>
          <p:cNvPr id="20" name="Shape 18"/>
          <p:cNvSpPr/>
          <p:nvPr/>
        </p:nvSpPr>
        <p:spPr>
          <a:xfrm>
            <a:off x="594360" y="4462272"/>
            <a:ext cx="11000232" cy="868680"/>
          </a:xfrm>
          <a:prstGeom prst="rect">
            <a:avLst/>
          </a:prstGeom>
          <a:solidFill>
            <a:srgbClr val="FFFFFF"/>
          </a:solidFill>
          <a:ln w="10160">
            <a:solidFill>
              <a:srgbClr val="D9E4E0"/>
            </a:solidFill>
            <a:prstDash val="solid"/>
          </a:ln>
        </p:spPr>
      </p:sp>
      <p:sp>
        <p:nvSpPr>
          <p:cNvPr id="21" name="Text 19"/>
          <p:cNvSpPr/>
          <p:nvPr/>
        </p:nvSpPr>
        <p:spPr>
          <a:xfrm>
            <a:off x="822960" y="4636008"/>
            <a:ext cx="2834640" cy="493776"/>
          </a:xfrm>
          <a:prstGeom prst="rect">
            <a:avLst/>
          </a:prstGeom>
          <a:noFill/>
          <a:ln/>
        </p:spPr>
        <p:txBody>
          <a:bodyPr wrap="square" lIns="0" tIns="0" rIns="0" bIns="0" rtlCol="0" anchor="ctr"/>
          <a:lstStyle/>
          <a:p>
            <a:pPr indent="0" marL="0">
              <a:buNone/>
            </a:pPr>
            <a:r>
              <a:rPr lang="ko-KR" altLang="en-US" sz="2100" b="1" dirty="0">
                <a:solidFill>
                  <a:srgbClr val="202A3E"/>
                </a:solidFill>
                <a:latin typeface="Noto Sans CJK KR" pitchFamily="34" charset="0"/>
                <a:ea typeface="Noto Sans CJK KR" pitchFamily="34" charset="-122"/>
                <a:cs typeface="Noto Sans CJK KR" pitchFamily="34" charset="-120"/>
              </a:rPr>
              <a:t>React 기록 화면</a:t>
            </a:r>
            <a:endParaRPr lang="ko-KR" sz="2100" dirty="0"/>
          </a:p>
        </p:txBody>
      </p:sp>
      <p:sp>
        <p:nvSpPr>
          <p:cNvPr id="22" name="Text 20"/>
          <p:cNvSpPr/>
          <p:nvPr/>
        </p:nvSpPr>
        <p:spPr>
          <a:xfrm>
            <a:off x="3767328" y="4590288"/>
            <a:ext cx="5120640" cy="612648"/>
          </a:xfrm>
          <a:prstGeom prst="rect">
            <a:avLst/>
          </a:prstGeom>
          <a:noFill/>
          <a:ln/>
        </p:spPr>
        <p:txBody>
          <a:bodyPr wrap="square" lIns="0" tIns="0" rIns="0" bIns="0" rtlCol="0" anchor="ctr"/>
          <a:lstStyle/>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소개 홈·내 기록·커트 준비</a:t>
            </a:r>
            <a:endParaRPr lang="ko-KR" sz="2000" dirty="0"/>
          </a:p>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개인 기록·예시 체험 분리</a:t>
            </a:r>
            <a:endParaRPr lang="ko-KR" sz="2000" dirty="0"/>
          </a:p>
        </p:txBody>
      </p:sp>
      <p:sp>
        <p:nvSpPr>
          <p:cNvPr id="23" name="Shape 21"/>
          <p:cNvSpPr/>
          <p:nvPr/>
        </p:nvSpPr>
        <p:spPr>
          <a:xfrm>
            <a:off x="9006840" y="4553712"/>
            <a:ext cx="2386584" cy="685800"/>
          </a:xfrm>
          <a:prstGeom prst="rect">
            <a:avLst/>
          </a:prstGeom>
          <a:solidFill>
            <a:srgbClr val="E8F2EE"/>
          </a:solidFill>
          <a:ln w="10160">
            <a:solidFill>
              <a:srgbClr val="E8F2EE"/>
            </a:solidFill>
            <a:prstDash val="solid"/>
          </a:ln>
        </p:spPr>
      </p:sp>
      <p:sp>
        <p:nvSpPr>
          <p:cNvPr id="24" name="Text 22"/>
          <p:cNvSpPr/>
          <p:nvPr/>
        </p:nvSpPr>
        <p:spPr>
          <a:xfrm>
            <a:off x="9116568" y="4581144"/>
            <a:ext cx="2176272" cy="621792"/>
          </a:xfrm>
          <a:prstGeom prst="rect">
            <a:avLst/>
          </a:prstGeom>
          <a:noFill/>
          <a:ln/>
        </p:spPr>
        <p:txBody>
          <a:bodyPr wrap="square" lIns="0" tIns="0" rIns="0" bIns="0" rtlCol="0" anchor="ctr"/>
          <a:lstStyle/>
          <a:p>
            <a:pPr algn="ctr" indent="0" marL="0">
              <a:buNone/>
            </a:pPr>
            <a:r>
              <a:rPr lang="ko-KR" altLang="en-US" sz="1700" b="1" dirty="0">
                <a:solidFill>
                  <a:srgbClr val="155E59"/>
                </a:solidFill>
                <a:latin typeface="Noto Sans CJK KR" pitchFamily="34" charset="0"/>
                <a:ea typeface="Noto Sans CJK KR" pitchFamily="34" charset="-122"/>
                <a:cs typeface="Noto Sans CJK KR" pitchFamily="34" charset="-120"/>
              </a:rPr>
              <a:t>화면 구성</a:t>
            </a:r>
            <a:endParaRPr lang="ko-KR" sz="1700" dirty="0"/>
          </a:p>
        </p:txBody>
      </p:sp>
      <p:sp>
        <p:nvSpPr>
          <p:cNvPr id="25" name="Shape 23"/>
          <p:cNvSpPr/>
          <p:nvPr/>
        </p:nvSpPr>
        <p:spPr>
          <a:xfrm>
            <a:off x="594360" y="5641848"/>
            <a:ext cx="11000232" cy="512064"/>
          </a:xfrm>
          <a:prstGeom prst="rect">
            <a:avLst/>
          </a:prstGeom>
          <a:solidFill>
            <a:srgbClr val="EBEFFA"/>
          </a:solidFill>
          <a:ln w="10160">
            <a:solidFill>
              <a:srgbClr val="EBEFFA"/>
            </a:solidFill>
            <a:prstDash val="solid"/>
          </a:ln>
        </p:spPr>
      </p:sp>
      <p:sp>
        <p:nvSpPr>
          <p:cNvPr id="26" name="Text 24"/>
          <p:cNvSpPr/>
          <p:nvPr/>
        </p:nvSpPr>
        <p:spPr>
          <a:xfrm>
            <a:off x="859536" y="5733288"/>
            <a:ext cx="10469880" cy="320040"/>
          </a:xfrm>
          <a:prstGeom prst="rect">
            <a:avLst/>
          </a:prstGeom>
          <a:noFill/>
          <a:ln/>
        </p:spPr>
        <p:txBody>
          <a:bodyPr wrap="square" lIns="0" tIns="0" rIns="0" bIns="0" rtlCol="0" anchor="ctr"/>
          <a:lstStyle/>
          <a:p>
            <a:pPr indent="0" marL="0">
              <a:buNone/>
            </a:pPr>
            <a:r>
              <a:rPr lang="ko-KR" altLang="en-US" sz="2000" b="1" dirty="0">
                <a:solidFill>
                  <a:srgbClr val="3C57B5"/>
                </a:solidFill>
                <a:latin typeface="Noto Sans CJK KR" pitchFamily="34" charset="0"/>
                <a:ea typeface="Noto Sans CJK KR" pitchFamily="34" charset="-122"/>
                <a:cs typeface="Noto Sans CJK KR" pitchFamily="34" charset="-120"/>
              </a:rPr>
              <a:t>지난주 목업 → 실제 입력·이동 가능한 화면</a:t>
            </a:r>
            <a:endParaRPr lang="ko-K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94360" y="365760"/>
            <a:ext cx="8229600" cy="274320"/>
          </a:xfrm>
          <a:prstGeom prst="rect">
            <a:avLst/>
          </a:prstGeom>
          <a:noFill/>
          <a:ln/>
        </p:spPr>
        <p:txBody>
          <a:bodyPr wrap="square" lIns="0" tIns="0" rIns="0" bIns="0" rtlCol="0" anchor="ctr"/>
          <a:lstStyle/>
          <a:p>
            <a:pPr indent="0" marL="0">
              <a:buNone/>
            </a:pPr>
            <a:r>
              <a:rPr lang="ko-KR" altLang="en-US" sz="1500" b="1" dirty="0">
                <a:solidFill>
                  <a:srgbClr val="3C57B5"/>
                </a:solidFill>
                <a:latin typeface="Noto Sans CJK KR" pitchFamily="34" charset="0"/>
                <a:ea typeface="Noto Sans CJK KR" pitchFamily="34" charset="-122"/>
                <a:cs typeface="Noto Sans CJK KR" pitchFamily="34" charset="-120"/>
              </a:rPr>
              <a:t>SALU · 7주차 개발 진행상황</a:t>
            </a:r>
            <a:endParaRPr lang="ko-KR" sz="1500" dirty="0"/>
          </a:p>
        </p:txBody>
      </p:sp>
      <p:sp>
        <p:nvSpPr>
          <p:cNvPr id="3" name="Text 1"/>
          <p:cNvSpPr/>
          <p:nvPr/>
        </p:nvSpPr>
        <p:spPr>
          <a:xfrm>
            <a:off x="594360" y="914400"/>
            <a:ext cx="10972800" cy="548640"/>
          </a:xfrm>
          <a:prstGeom prst="rect">
            <a:avLst/>
          </a:prstGeom>
          <a:noFill/>
          <a:ln/>
        </p:spPr>
        <p:txBody>
          <a:bodyPr wrap="square" lIns="0" tIns="0" rIns="0" bIns="0" rtlCol="0" anchor="ctr"/>
          <a:lstStyle/>
          <a:p>
            <a:pPr indent="0" marL="0">
              <a:buNone/>
            </a:pPr>
            <a:r>
              <a:rPr lang="ko-KR" altLang="en-US" sz="3100" b="1" dirty="0">
                <a:solidFill>
                  <a:srgbClr val="202A3E"/>
                </a:solidFill>
                <a:latin typeface="Noto Sans CJK KR" pitchFamily="34" charset="0"/>
                <a:ea typeface="Noto Sans CJK KR" pitchFamily="34" charset="-122"/>
                <a:cs typeface="Noto Sans CJK KR" pitchFamily="34" charset="-120"/>
              </a:rPr>
              <a:t>구현한 사용 흐름</a:t>
            </a:r>
            <a:endParaRPr lang="ko-KR" sz="3100" dirty="0"/>
          </a:p>
        </p:txBody>
      </p:sp>
      <p:sp>
        <p:nvSpPr>
          <p:cNvPr id="4" name="Shape 2"/>
          <p:cNvSpPr/>
          <p:nvPr/>
        </p:nvSpPr>
        <p:spPr>
          <a:xfrm>
            <a:off x="594360" y="6428232"/>
            <a:ext cx="11000232" cy="0"/>
          </a:xfrm>
          <a:prstGeom prst="line">
            <a:avLst/>
          </a:prstGeom>
          <a:noFill/>
          <a:ln w="12700">
            <a:solidFill>
              <a:srgbClr val="D9E4E0"/>
            </a:solidFill>
            <a:prstDash val="solid"/>
          </a:ln>
        </p:spPr>
      </p:sp>
      <p:sp>
        <p:nvSpPr>
          <p:cNvPr id="5" name="Text 3"/>
          <p:cNvSpPr/>
          <p:nvPr/>
        </p:nvSpPr>
        <p:spPr>
          <a:xfrm>
            <a:off x="594360" y="6519672"/>
            <a:ext cx="822960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진행보고안 · 2026.10.10 기준</a:t>
            </a:r>
            <a:endParaRPr lang="ko-KR" sz="1000" dirty="0"/>
          </a:p>
        </p:txBody>
      </p:sp>
      <p:sp>
        <p:nvSpPr>
          <p:cNvPr id="6" name="Text 4"/>
          <p:cNvSpPr/>
          <p:nvPr/>
        </p:nvSpPr>
        <p:spPr>
          <a:xfrm>
            <a:off x="9262872" y="6510528"/>
            <a:ext cx="2331720" cy="201168"/>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2 / 4</a:t>
            </a:r>
            <a:endParaRPr lang="ko-KR" sz="1000" dirty="0"/>
          </a:p>
        </p:txBody>
      </p:sp>
      <p:sp>
        <p:nvSpPr>
          <p:cNvPr id="7" name="Text 5"/>
          <p:cNvSpPr/>
          <p:nvPr/>
        </p:nvSpPr>
        <p:spPr>
          <a:xfrm>
            <a:off x="621792" y="1572768"/>
            <a:ext cx="10972800" cy="320040"/>
          </a:xfrm>
          <a:prstGeom prst="rect">
            <a:avLst/>
          </a:prstGeom>
          <a:noFill/>
          <a:ln/>
        </p:spPr>
        <p:txBody>
          <a:bodyPr wrap="square" lIns="0" tIns="0" rIns="0" bIns="0" rtlCol="0" anchor="ctr"/>
          <a:lstStyle/>
          <a:p>
            <a:pPr indent="0" marL="0">
              <a:buNone/>
            </a:pPr>
            <a:r>
              <a:rPr lang="ko-KR" altLang="en-US" sz="1700" dirty="0">
                <a:solidFill>
                  <a:srgbClr val="646C7D"/>
                </a:solidFill>
                <a:latin typeface="Noto Sans CJK KR" pitchFamily="34" charset="0"/>
                <a:ea typeface="Noto Sans CJK KR" pitchFamily="34" charset="-122"/>
                <a:cs typeface="Noto Sans CJK KR" pitchFamily="34" charset="-120"/>
              </a:rPr>
              <a:t>경과는 선택 · 커트 준비는 자료 선택 → 요청 작성 → 내용 확인</a:t>
            </a:r>
            <a:endParaRPr lang="ko-KR" sz="1700" dirty="0"/>
          </a:p>
        </p:txBody>
      </p:sp>
      <p:sp>
        <p:nvSpPr>
          <p:cNvPr id="8" name="Text 6"/>
          <p:cNvSpPr/>
          <p:nvPr/>
        </p:nvSpPr>
        <p:spPr>
          <a:xfrm>
            <a:off x="594360" y="1956816"/>
            <a:ext cx="2542032" cy="320040"/>
          </a:xfrm>
          <a:prstGeom prst="rect">
            <a:avLst/>
          </a:prstGeom>
          <a:noFill/>
          <a:ln/>
        </p:spPr>
        <p:txBody>
          <a:bodyPr wrap="square" lIns="0" tIns="0" rIns="0" bIns="0" rtlCol="0" anchor="ctr"/>
          <a:lstStyle/>
          <a:p>
            <a:pPr algn="ct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소개 홈</a:t>
            </a:r>
            <a:endParaRPr lang="ko-KR" sz="2000" dirty="0"/>
          </a:p>
        </p:txBody>
      </p:sp>
      <p:sp>
        <p:nvSpPr>
          <p:cNvPr id="9" name="Text 7"/>
          <p:cNvSpPr/>
          <p:nvPr/>
        </p:nvSpPr>
        <p:spPr>
          <a:xfrm>
            <a:off x="594360" y="2286000"/>
            <a:ext cx="2542032" cy="201168"/>
          </a:xfrm>
          <a:prstGeom prst="rect">
            <a:avLst/>
          </a:prstGeom>
          <a:noFill/>
          <a:ln/>
        </p:spPr>
        <p:txBody>
          <a:bodyPr wrap="square" lIns="0" tIns="0" rIns="0" bIns="0" rtlCol="0" anchor="ctr"/>
          <a:lstStyle/>
          <a:p>
            <a:pPr algn="ct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기록 시작</a:t>
            </a:r>
            <a:endParaRPr lang="ko-KR" sz="1500" dirty="0"/>
          </a:p>
        </p:txBody>
      </p:sp>
      <p:sp>
        <p:nvSpPr>
          <p:cNvPr id="10" name="Text 8"/>
          <p:cNvSpPr/>
          <p:nvPr/>
        </p:nvSpPr>
        <p:spPr>
          <a:xfrm>
            <a:off x="3127248" y="1993392"/>
            <a:ext cx="292608" cy="256032"/>
          </a:xfrm>
          <a:prstGeom prst="rect">
            <a:avLst/>
          </a:prstGeom>
          <a:noFill/>
          <a:ln/>
        </p:spPr>
        <p:txBody>
          <a:bodyPr wrap="square" lIns="0" tIns="0" rIns="0" bIns="0" rtlCol="0" anchor="ctr"/>
          <a:lstStyle/>
          <a:p>
            <a:pPr indent="0" marL="0">
              <a:buNone/>
            </a:pPr>
            <a:r>
              <a:rPr lang="ko-KR" altLang="en-US" sz="1800" dirty="0">
                <a:solidFill>
                  <a:srgbClr val="646C7D"/>
                </a:solidFill>
                <a:latin typeface="Noto Sans CJK KR" pitchFamily="34" charset="0"/>
                <a:ea typeface="Noto Sans CJK KR" pitchFamily="34" charset="-122"/>
                <a:cs typeface="Noto Sans CJK KR" pitchFamily="34" charset="-120"/>
              </a:rPr>
              <a:t>→</a:t>
            </a:r>
            <a:endParaRPr lang="ko-KR" sz="1800" dirty="0"/>
          </a:p>
        </p:txBody>
      </p:sp>
      <p:sp>
        <p:nvSpPr>
          <p:cNvPr id="11" name="Shape 9"/>
          <p:cNvSpPr/>
          <p:nvPr/>
        </p:nvSpPr>
        <p:spPr>
          <a:xfrm>
            <a:off x="1019556" y="2555748"/>
            <a:ext cx="1691640" cy="3607660"/>
          </a:xfrm>
          <a:prstGeom prst="rect">
            <a:avLst/>
          </a:prstGeom>
          <a:solidFill>
            <a:srgbClr val="FFFFFF"/>
          </a:solidFill>
          <a:ln w="10160">
            <a:solidFill>
              <a:srgbClr val="D9E4E0"/>
            </a:solidFill>
            <a:prstDash val="solid"/>
          </a:ln>
        </p:spPr>
      </p:sp>
      <p:pic>
        <p:nvPicPr>
          <p:cNvPr id="12" name="Image 0" descr="실제 React 소개 홈 화면, 발표용 가상 기록과 사진">    </p:cNvPr>
          <p:cNvPicPr>
            <a:picLocks noChangeAspect="1"/>
          </p:cNvPicPr>
          <p:nvPr/>
        </p:nvPicPr>
        <p:blipFill>
          <a:blip r:embed="rId1"/>
          <a:stretch>
            <a:fillRect/>
          </a:stretch>
        </p:blipFill>
        <p:spPr>
          <a:xfrm>
            <a:off x="1042416" y="2578608"/>
            <a:ext cx="1645920" cy="3561940"/>
          </a:xfrm>
          <a:prstGeom prst="rect">
            <a:avLst/>
          </a:prstGeom>
        </p:spPr>
      </p:pic>
      <p:sp>
        <p:nvSpPr>
          <p:cNvPr id="13" name="Text 10"/>
          <p:cNvSpPr/>
          <p:nvPr/>
        </p:nvSpPr>
        <p:spPr>
          <a:xfrm>
            <a:off x="3410712" y="1956816"/>
            <a:ext cx="2542032" cy="320040"/>
          </a:xfrm>
          <a:prstGeom prst="rect">
            <a:avLst/>
          </a:prstGeom>
          <a:noFill/>
          <a:ln/>
        </p:spPr>
        <p:txBody>
          <a:bodyPr wrap="square" lIns="0" tIns="0" rIns="0" bIns="0" rtlCol="0" anchor="ctr"/>
          <a:lstStyle/>
          <a:p>
            <a:pPr algn="ct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커트·경과</a:t>
            </a:r>
            <a:endParaRPr lang="ko-KR" sz="2000" dirty="0"/>
          </a:p>
        </p:txBody>
      </p:sp>
      <p:sp>
        <p:nvSpPr>
          <p:cNvPr id="14" name="Text 11"/>
          <p:cNvSpPr/>
          <p:nvPr/>
        </p:nvSpPr>
        <p:spPr>
          <a:xfrm>
            <a:off x="3410712" y="2286000"/>
            <a:ext cx="2542032" cy="201168"/>
          </a:xfrm>
          <a:prstGeom prst="rect">
            <a:avLst/>
          </a:prstGeom>
          <a:noFill/>
          <a:ln/>
        </p:spPr>
        <p:txBody>
          <a:bodyPr wrap="square" lIns="0" tIns="0" rIns="0" bIns="0" rtlCol="0" anchor="ctr"/>
          <a:lstStyle/>
          <a:p>
            <a:pPr algn="ct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날짜별 입력·수정</a:t>
            </a:r>
            <a:endParaRPr lang="ko-KR" sz="1500" dirty="0"/>
          </a:p>
        </p:txBody>
      </p:sp>
      <p:sp>
        <p:nvSpPr>
          <p:cNvPr id="15" name="Text 12"/>
          <p:cNvSpPr/>
          <p:nvPr/>
        </p:nvSpPr>
        <p:spPr>
          <a:xfrm>
            <a:off x="5943600" y="1993392"/>
            <a:ext cx="292608" cy="256032"/>
          </a:xfrm>
          <a:prstGeom prst="rect">
            <a:avLst/>
          </a:prstGeom>
          <a:noFill/>
          <a:ln/>
        </p:spPr>
        <p:txBody>
          <a:bodyPr wrap="square" lIns="0" tIns="0" rIns="0" bIns="0" rtlCol="0" anchor="ctr"/>
          <a:lstStyle/>
          <a:p>
            <a:pPr indent="0" marL="0">
              <a:buNone/>
            </a:pPr>
            <a:r>
              <a:rPr lang="ko-KR" altLang="en-US" sz="1800" dirty="0">
                <a:solidFill>
                  <a:srgbClr val="646C7D"/>
                </a:solidFill>
                <a:latin typeface="Noto Sans CJK KR" pitchFamily="34" charset="0"/>
                <a:ea typeface="Noto Sans CJK KR" pitchFamily="34" charset="-122"/>
                <a:cs typeface="Noto Sans CJK KR" pitchFamily="34" charset="-120"/>
              </a:rPr>
              <a:t>→</a:t>
            </a:r>
            <a:endParaRPr lang="ko-KR" sz="1800" dirty="0"/>
          </a:p>
        </p:txBody>
      </p:sp>
      <p:sp>
        <p:nvSpPr>
          <p:cNvPr id="16" name="Shape 13"/>
          <p:cNvSpPr/>
          <p:nvPr/>
        </p:nvSpPr>
        <p:spPr>
          <a:xfrm>
            <a:off x="3835908" y="2555748"/>
            <a:ext cx="1691640" cy="3607660"/>
          </a:xfrm>
          <a:prstGeom prst="rect">
            <a:avLst/>
          </a:prstGeom>
          <a:solidFill>
            <a:srgbClr val="FFFFFF"/>
          </a:solidFill>
          <a:ln w="10160">
            <a:solidFill>
              <a:srgbClr val="D9E4E0"/>
            </a:solidFill>
            <a:prstDash val="solid"/>
          </a:ln>
        </p:spPr>
      </p:sp>
      <p:pic>
        <p:nvPicPr>
          <p:cNvPr id="17" name="Image 1" descr="실제 React 커트·경과 화면, 발표용 가상 기록과 사진">    </p:cNvPr>
          <p:cNvPicPr>
            <a:picLocks noChangeAspect="1"/>
          </p:cNvPicPr>
          <p:nvPr/>
        </p:nvPicPr>
        <p:blipFill>
          <a:blip r:embed="rId2"/>
          <a:stretch>
            <a:fillRect/>
          </a:stretch>
        </p:blipFill>
        <p:spPr>
          <a:xfrm>
            <a:off x="3858768" y="2578608"/>
            <a:ext cx="1645920" cy="3561940"/>
          </a:xfrm>
          <a:prstGeom prst="rect">
            <a:avLst/>
          </a:prstGeom>
        </p:spPr>
      </p:pic>
      <p:sp>
        <p:nvSpPr>
          <p:cNvPr id="18" name="Text 14"/>
          <p:cNvSpPr/>
          <p:nvPr/>
        </p:nvSpPr>
        <p:spPr>
          <a:xfrm>
            <a:off x="6227064" y="1956816"/>
            <a:ext cx="2542032" cy="320040"/>
          </a:xfrm>
          <a:prstGeom prst="rect">
            <a:avLst/>
          </a:prstGeom>
          <a:noFill/>
          <a:ln/>
        </p:spPr>
        <p:txBody>
          <a:bodyPr wrap="square" lIns="0" tIns="0" rIns="0" bIns="0" rtlCol="0" anchor="ctr"/>
          <a:lstStyle/>
          <a:p>
            <a:pPr algn="ct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참고 자료 선택</a:t>
            </a:r>
            <a:endParaRPr lang="ko-KR" sz="2000" dirty="0"/>
          </a:p>
        </p:txBody>
      </p:sp>
      <p:sp>
        <p:nvSpPr>
          <p:cNvPr id="19" name="Text 15"/>
          <p:cNvSpPr/>
          <p:nvPr/>
        </p:nvSpPr>
        <p:spPr>
          <a:xfrm>
            <a:off x="6227064" y="2286000"/>
            <a:ext cx="2542032" cy="201168"/>
          </a:xfrm>
          <a:prstGeom prst="rect">
            <a:avLst/>
          </a:prstGeom>
          <a:noFill/>
          <a:ln/>
        </p:spPr>
        <p:txBody>
          <a:bodyPr wrap="square" lIns="0" tIns="0" rIns="0" bIns="0" rtlCol="0" anchor="ctr"/>
          <a:lstStyle/>
          <a:p>
            <a:pPr algn="ct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필요한 내용 선택</a:t>
            </a:r>
            <a:endParaRPr lang="ko-KR" sz="1500" dirty="0"/>
          </a:p>
        </p:txBody>
      </p:sp>
      <p:sp>
        <p:nvSpPr>
          <p:cNvPr id="20" name="Text 16"/>
          <p:cNvSpPr/>
          <p:nvPr/>
        </p:nvSpPr>
        <p:spPr>
          <a:xfrm>
            <a:off x="8759952" y="1993392"/>
            <a:ext cx="292608" cy="256032"/>
          </a:xfrm>
          <a:prstGeom prst="rect">
            <a:avLst/>
          </a:prstGeom>
          <a:noFill/>
          <a:ln/>
        </p:spPr>
        <p:txBody>
          <a:bodyPr wrap="square" lIns="0" tIns="0" rIns="0" bIns="0" rtlCol="0" anchor="ctr"/>
          <a:lstStyle/>
          <a:p>
            <a:pPr indent="0" marL="0">
              <a:buNone/>
            </a:pPr>
            <a:r>
              <a:rPr lang="ko-KR" altLang="en-US" sz="1800" dirty="0">
                <a:solidFill>
                  <a:srgbClr val="646C7D"/>
                </a:solidFill>
                <a:latin typeface="Noto Sans CJK KR" pitchFamily="34" charset="0"/>
                <a:ea typeface="Noto Sans CJK KR" pitchFamily="34" charset="-122"/>
                <a:cs typeface="Noto Sans CJK KR" pitchFamily="34" charset="-120"/>
              </a:rPr>
              <a:t>→</a:t>
            </a:r>
            <a:endParaRPr lang="ko-KR" sz="1800" dirty="0"/>
          </a:p>
        </p:txBody>
      </p:sp>
      <p:sp>
        <p:nvSpPr>
          <p:cNvPr id="21" name="Shape 17"/>
          <p:cNvSpPr/>
          <p:nvPr/>
        </p:nvSpPr>
        <p:spPr>
          <a:xfrm>
            <a:off x="6652260" y="2555748"/>
            <a:ext cx="1691640" cy="3607660"/>
          </a:xfrm>
          <a:prstGeom prst="rect">
            <a:avLst/>
          </a:prstGeom>
          <a:solidFill>
            <a:srgbClr val="FFFFFF"/>
          </a:solidFill>
          <a:ln w="10160">
            <a:solidFill>
              <a:srgbClr val="D9E4E0"/>
            </a:solidFill>
            <a:prstDash val="solid"/>
          </a:ln>
        </p:spPr>
      </p:sp>
      <p:pic>
        <p:nvPicPr>
          <p:cNvPr id="22" name="Image 2" descr="실제 React 참고 자료 선택 화면, 발표용 가상 기록과 사진">    </p:cNvPr>
          <p:cNvPicPr>
            <a:picLocks noChangeAspect="1"/>
          </p:cNvPicPr>
          <p:nvPr/>
        </p:nvPicPr>
        <p:blipFill>
          <a:blip r:embed="rId3"/>
          <a:stretch>
            <a:fillRect/>
          </a:stretch>
        </p:blipFill>
        <p:spPr>
          <a:xfrm>
            <a:off x="6675120" y="2578608"/>
            <a:ext cx="1645920" cy="3561940"/>
          </a:xfrm>
          <a:prstGeom prst="rect">
            <a:avLst/>
          </a:prstGeom>
        </p:spPr>
      </p:pic>
      <p:sp>
        <p:nvSpPr>
          <p:cNvPr id="23" name="Text 18"/>
          <p:cNvSpPr/>
          <p:nvPr/>
        </p:nvSpPr>
        <p:spPr>
          <a:xfrm>
            <a:off x="9043416" y="1956816"/>
            <a:ext cx="2542032" cy="320040"/>
          </a:xfrm>
          <a:prstGeom prst="rect">
            <a:avLst/>
          </a:prstGeom>
          <a:noFill/>
          <a:ln/>
        </p:spPr>
        <p:txBody>
          <a:bodyPr wrap="square" lIns="0" tIns="0" rIns="0" bIns="0" rtlCol="0" anchor="ctr"/>
          <a:lstStyle/>
          <a:p>
            <a:pPr algn="ct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내용 확인</a:t>
            </a:r>
            <a:endParaRPr lang="ko-KR" sz="2000" dirty="0"/>
          </a:p>
        </p:txBody>
      </p:sp>
      <p:sp>
        <p:nvSpPr>
          <p:cNvPr id="24" name="Text 19"/>
          <p:cNvSpPr/>
          <p:nvPr/>
        </p:nvSpPr>
        <p:spPr>
          <a:xfrm>
            <a:off x="9043416" y="2286000"/>
            <a:ext cx="2542032" cy="201168"/>
          </a:xfrm>
          <a:prstGeom prst="rect">
            <a:avLst/>
          </a:prstGeom>
          <a:noFill/>
          <a:ln/>
        </p:spPr>
        <p:txBody>
          <a:bodyPr wrap="square" lIns="0" tIns="0" rIns="0" bIns="0" rtlCol="0" anchor="ctr"/>
          <a:lstStyle/>
          <a:p>
            <a:pPr algn="ctr" indent="0" marL="0">
              <a:buNone/>
            </a:pPr>
            <a:r>
              <a:rPr lang="ko-KR" altLang="en-US" sz="1500" dirty="0">
                <a:solidFill>
                  <a:srgbClr val="646C7D"/>
                </a:solidFill>
                <a:latin typeface="Noto Sans CJK KR" pitchFamily="34" charset="0"/>
                <a:ea typeface="Noto Sans CJK KR" pitchFamily="34" charset="-122"/>
                <a:cs typeface="Noto Sans CJK KR" pitchFamily="34" charset="-120"/>
              </a:rPr>
              <a:t>다음 커트 요청 정리</a:t>
            </a:r>
            <a:endParaRPr lang="ko-KR" sz="1500" dirty="0"/>
          </a:p>
        </p:txBody>
      </p:sp>
      <p:sp>
        <p:nvSpPr>
          <p:cNvPr id="25" name="Shape 20"/>
          <p:cNvSpPr/>
          <p:nvPr/>
        </p:nvSpPr>
        <p:spPr>
          <a:xfrm>
            <a:off x="9468612" y="2555748"/>
            <a:ext cx="1691640" cy="3607660"/>
          </a:xfrm>
          <a:prstGeom prst="rect">
            <a:avLst/>
          </a:prstGeom>
          <a:solidFill>
            <a:srgbClr val="FFFFFF"/>
          </a:solidFill>
          <a:ln w="10160">
            <a:solidFill>
              <a:srgbClr val="D9E4E0"/>
            </a:solidFill>
            <a:prstDash val="solid"/>
          </a:ln>
        </p:spPr>
      </p:sp>
      <p:pic>
        <p:nvPicPr>
          <p:cNvPr id="26" name="Image 3" descr="실제 React 내용 확인 화면, 발표용 가상 기록과 사진">    </p:cNvPr>
          <p:cNvPicPr>
            <a:picLocks noChangeAspect="1"/>
          </p:cNvPicPr>
          <p:nvPr/>
        </p:nvPicPr>
        <p:blipFill>
          <a:blip r:embed="rId4"/>
          <a:stretch>
            <a:fillRect/>
          </a:stretch>
        </p:blipFill>
        <p:spPr>
          <a:xfrm>
            <a:off x="9491472" y="2578608"/>
            <a:ext cx="1645920" cy="3561940"/>
          </a:xfrm>
          <a:prstGeom prst="rect">
            <a:avLst/>
          </a:prstGeom>
        </p:spPr>
      </p:pic>
      <p:sp>
        <p:nvSpPr>
          <p:cNvPr id="27" name="Text 21"/>
          <p:cNvSpPr/>
          <p:nvPr/>
        </p:nvSpPr>
        <p:spPr>
          <a:xfrm>
            <a:off x="630936" y="6208776"/>
            <a:ext cx="10927080" cy="201168"/>
          </a:xfrm>
          <a:prstGeom prst="rect">
            <a:avLst/>
          </a:prstGeom>
          <a:noFill/>
          <a:ln/>
        </p:spPr>
        <p:txBody>
          <a:bodyPr wrap="square" lIns="0" tIns="0" rIns="0" bIns="0" rtlCol="0" anchor="ctr"/>
          <a:lstStyle/>
          <a:p>
            <a:pPr indent="0" marL="0">
              <a:buNone/>
            </a:pPr>
            <a:r>
              <a:rPr lang="ko-KR" altLang="en-US" sz="1200" dirty="0">
                <a:solidFill>
                  <a:srgbClr val="646C7D"/>
                </a:solidFill>
                <a:latin typeface="Noto Sans CJK KR" pitchFamily="34" charset="0"/>
                <a:ea typeface="Noto Sans CJK KR" pitchFamily="34" charset="-122"/>
                <a:cs typeface="Noto Sans CJK KR" pitchFamily="34" charset="-120"/>
              </a:rPr>
              <a:t>실제 React 캡처 · 발표용 가상 자료 · 실제 상담 전송 전</a:t>
            </a:r>
            <a:endParaRPr lang="ko-KR"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94360" y="365760"/>
            <a:ext cx="8229600" cy="274320"/>
          </a:xfrm>
          <a:prstGeom prst="rect">
            <a:avLst/>
          </a:prstGeom>
          <a:noFill/>
          <a:ln/>
        </p:spPr>
        <p:txBody>
          <a:bodyPr wrap="square" lIns="0" tIns="0" rIns="0" bIns="0" rtlCol="0" anchor="ctr"/>
          <a:lstStyle/>
          <a:p>
            <a:pPr indent="0" marL="0">
              <a:buNone/>
            </a:pPr>
            <a:r>
              <a:rPr lang="ko-KR" altLang="en-US" sz="1500" b="1" dirty="0">
                <a:solidFill>
                  <a:srgbClr val="3C57B5"/>
                </a:solidFill>
                <a:latin typeface="Noto Sans CJK KR" pitchFamily="34" charset="0"/>
                <a:ea typeface="Noto Sans CJK KR" pitchFamily="34" charset="-122"/>
                <a:cs typeface="Noto Sans CJK KR" pitchFamily="34" charset="-120"/>
              </a:rPr>
              <a:t>SALU · 7주차 개발 진행상황</a:t>
            </a:r>
            <a:endParaRPr lang="ko-KR" sz="1500" dirty="0"/>
          </a:p>
        </p:txBody>
      </p:sp>
      <p:sp>
        <p:nvSpPr>
          <p:cNvPr id="3" name="Text 1"/>
          <p:cNvSpPr/>
          <p:nvPr/>
        </p:nvSpPr>
        <p:spPr>
          <a:xfrm>
            <a:off x="594360" y="914400"/>
            <a:ext cx="10972800" cy="548640"/>
          </a:xfrm>
          <a:prstGeom prst="rect">
            <a:avLst/>
          </a:prstGeom>
          <a:noFill/>
          <a:ln/>
        </p:spPr>
        <p:txBody>
          <a:bodyPr wrap="square" lIns="0" tIns="0" rIns="0" bIns="0" rtlCol="0" anchor="ctr"/>
          <a:lstStyle/>
          <a:p>
            <a:pPr indent="0" marL="0">
              <a:buNone/>
            </a:pPr>
            <a:r>
              <a:rPr lang="ko-KR" altLang="en-US" sz="3100" b="1" dirty="0">
                <a:solidFill>
                  <a:srgbClr val="202A3E"/>
                </a:solidFill>
                <a:latin typeface="Noto Sans CJK KR" pitchFamily="34" charset="0"/>
                <a:ea typeface="Noto Sans CJK KR" pitchFamily="34" charset="-122"/>
                <a:cs typeface="Noto Sans CJK KR" pitchFamily="34" charset="-120"/>
              </a:rPr>
              <a:t>개발 중 보완한 부분</a:t>
            </a:r>
            <a:endParaRPr lang="ko-KR" sz="3100" dirty="0"/>
          </a:p>
        </p:txBody>
      </p:sp>
      <p:sp>
        <p:nvSpPr>
          <p:cNvPr id="4" name="Shape 2"/>
          <p:cNvSpPr/>
          <p:nvPr/>
        </p:nvSpPr>
        <p:spPr>
          <a:xfrm>
            <a:off x="594360" y="6428232"/>
            <a:ext cx="11000232" cy="0"/>
          </a:xfrm>
          <a:prstGeom prst="line">
            <a:avLst/>
          </a:prstGeom>
          <a:noFill/>
          <a:ln w="12700">
            <a:solidFill>
              <a:srgbClr val="D9E4E0"/>
            </a:solidFill>
            <a:prstDash val="solid"/>
          </a:ln>
        </p:spPr>
      </p:sp>
      <p:sp>
        <p:nvSpPr>
          <p:cNvPr id="5" name="Text 3"/>
          <p:cNvSpPr/>
          <p:nvPr/>
        </p:nvSpPr>
        <p:spPr>
          <a:xfrm>
            <a:off x="594360" y="6519672"/>
            <a:ext cx="822960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진행보고안 · 2026.10.10 기준</a:t>
            </a:r>
            <a:endParaRPr lang="ko-KR" sz="1000" dirty="0"/>
          </a:p>
        </p:txBody>
      </p:sp>
      <p:sp>
        <p:nvSpPr>
          <p:cNvPr id="6" name="Text 4"/>
          <p:cNvSpPr/>
          <p:nvPr/>
        </p:nvSpPr>
        <p:spPr>
          <a:xfrm>
            <a:off x="9262872" y="6510528"/>
            <a:ext cx="2331720" cy="201168"/>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3 / 4</a:t>
            </a:r>
            <a:endParaRPr lang="ko-KR" sz="1000" dirty="0"/>
          </a:p>
        </p:txBody>
      </p:sp>
      <p:sp>
        <p:nvSpPr>
          <p:cNvPr id="7" name="Text 5"/>
          <p:cNvSpPr/>
          <p:nvPr/>
        </p:nvSpPr>
        <p:spPr>
          <a:xfrm>
            <a:off x="2340864" y="1847088"/>
            <a:ext cx="3904488" cy="329184"/>
          </a:xfrm>
          <a:prstGeom prst="rect">
            <a:avLst/>
          </a:prstGeom>
          <a:noFill/>
          <a:ln/>
        </p:spPr>
        <p:txBody>
          <a:bodyPr wrap="square" lIns="0" tIns="0" rIns="0" bIns="0" rtlCol="0" anchor="ctr"/>
          <a:lstStyle/>
          <a:p>
            <a:pPr indent="0" marL="0">
              <a:buNone/>
            </a:pPr>
            <a:r>
              <a:rPr lang="ko-KR" altLang="en-US" sz="2000" b="1" dirty="0">
                <a:solidFill>
                  <a:srgbClr val="646C7D"/>
                </a:solidFill>
                <a:latin typeface="Noto Sans CJK KR" pitchFamily="34" charset="0"/>
                <a:ea typeface="Noto Sans CJK KR" pitchFamily="34" charset="-122"/>
                <a:cs typeface="Noto Sans CJK KR" pitchFamily="34" charset="-120"/>
              </a:rPr>
              <a:t>확인한 문제</a:t>
            </a:r>
            <a:endParaRPr lang="ko-KR" sz="2000" dirty="0"/>
          </a:p>
        </p:txBody>
      </p:sp>
      <p:sp>
        <p:nvSpPr>
          <p:cNvPr id="8" name="Text 6"/>
          <p:cNvSpPr/>
          <p:nvPr/>
        </p:nvSpPr>
        <p:spPr>
          <a:xfrm>
            <a:off x="6629400" y="1847088"/>
            <a:ext cx="4636008" cy="329184"/>
          </a:xfrm>
          <a:prstGeom prst="rect">
            <a:avLst/>
          </a:prstGeom>
          <a:noFill/>
          <a:ln/>
        </p:spPr>
        <p:txBody>
          <a:bodyPr wrap="square" lIns="0" tIns="0" rIns="0" bIns="0" rtlCol="0" anchor="ctr"/>
          <a:lstStyle/>
          <a:p>
            <a:pP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바꾼 동작</a:t>
            </a:r>
            <a:endParaRPr lang="ko-KR" sz="2000" dirty="0"/>
          </a:p>
        </p:txBody>
      </p:sp>
      <p:sp>
        <p:nvSpPr>
          <p:cNvPr id="9" name="Shape 7"/>
          <p:cNvSpPr/>
          <p:nvPr/>
        </p:nvSpPr>
        <p:spPr>
          <a:xfrm>
            <a:off x="594360" y="2414016"/>
            <a:ext cx="11000232" cy="868680"/>
          </a:xfrm>
          <a:prstGeom prst="rect">
            <a:avLst/>
          </a:prstGeom>
          <a:solidFill>
            <a:srgbClr val="FFFFFF"/>
          </a:solidFill>
          <a:ln w="10160">
            <a:solidFill>
              <a:srgbClr val="D9E4E0"/>
            </a:solidFill>
            <a:prstDash val="solid"/>
          </a:ln>
        </p:spPr>
      </p:sp>
      <p:sp>
        <p:nvSpPr>
          <p:cNvPr id="10" name="Text 8"/>
          <p:cNvSpPr/>
          <p:nvPr/>
        </p:nvSpPr>
        <p:spPr>
          <a:xfrm>
            <a:off x="841248" y="2660904"/>
            <a:ext cx="1316736" cy="320040"/>
          </a:xfrm>
          <a:prstGeom prst="rect">
            <a:avLst/>
          </a:prstGeom>
          <a:noFill/>
          <a:ln/>
        </p:spPr>
        <p:txBody>
          <a:bodyPr wrap="square" lIns="0" tIns="0" rIns="0" bIns="0" rtlCol="0" anchor="ctr"/>
          <a:lstStyle/>
          <a:p>
            <a:pPr indent="0" marL="0">
              <a:buNone/>
            </a:pPr>
            <a:r>
              <a:rPr lang="ko-KR" altLang="en-US" sz="2100" b="1" dirty="0">
                <a:solidFill>
                  <a:srgbClr val="3C57B5"/>
                </a:solidFill>
                <a:latin typeface="Noto Sans CJK KR" pitchFamily="34" charset="0"/>
                <a:ea typeface="Noto Sans CJK KR" pitchFamily="34" charset="-122"/>
                <a:cs typeface="Noto Sans CJK KR" pitchFamily="34" charset="-120"/>
              </a:rPr>
              <a:t>첫 화면</a:t>
            </a:r>
            <a:endParaRPr lang="ko-KR" sz="2100" dirty="0"/>
          </a:p>
        </p:txBody>
      </p:sp>
      <p:sp>
        <p:nvSpPr>
          <p:cNvPr id="11" name="Text 9"/>
          <p:cNvSpPr/>
          <p:nvPr/>
        </p:nvSpPr>
        <p:spPr>
          <a:xfrm>
            <a:off x="2340864" y="2560320"/>
            <a:ext cx="3584448" cy="576072"/>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가상 기록부터 표시</a:t>
            </a:r>
            <a:endParaRPr lang="ko-KR" sz="2100" dirty="0"/>
          </a:p>
        </p:txBody>
      </p:sp>
      <p:sp>
        <p:nvSpPr>
          <p:cNvPr id="12" name="Text 10"/>
          <p:cNvSpPr/>
          <p:nvPr/>
        </p:nvSpPr>
        <p:spPr>
          <a:xfrm>
            <a:off x="5989320" y="2688336"/>
            <a:ext cx="329184" cy="301752"/>
          </a:xfrm>
          <a:prstGeom prst="rect">
            <a:avLst/>
          </a:prstGeom>
          <a:noFill/>
          <a:ln/>
        </p:spPr>
        <p:txBody>
          <a:bodyPr wrap="square" lIns="0" tIns="0" rIns="0" bIns="0" rtlCol="0" anchor="ctr"/>
          <a:lstStyle/>
          <a:p>
            <a:pPr indent="0" marL="0">
              <a:buNone/>
            </a:pPr>
            <a:r>
              <a:rPr lang="ko-KR" altLang="en-US" sz="2000" dirty="0">
                <a:solidFill>
                  <a:srgbClr val="646C7D"/>
                </a:solidFill>
                <a:latin typeface="Noto Sans CJK KR" pitchFamily="34" charset="0"/>
                <a:ea typeface="Noto Sans CJK KR" pitchFamily="34" charset="-122"/>
                <a:cs typeface="Noto Sans CJK KR" pitchFamily="34" charset="-120"/>
              </a:rPr>
              <a:t>→</a:t>
            </a:r>
            <a:endParaRPr lang="ko-KR" sz="2000" dirty="0"/>
          </a:p>
        </p:txBody>
      </p:sp>
      <p:sp>
        <p:nvSpPr>
          <p:cNvPr id="13" name="Text 11"/>
          <p:cNvSpPr/>
          <p:nvPr/>
        </p:nvSpPr>
        <p:spPr>
          <a:xfrm>
            <a:off x="6629400" y="2560320"/>
            <a:ext cx="4599432" cy="576072"/>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소개 홈·빈 개인 기록</a:t>
            </a:r>
            <a:endParaRPr lang="ko-KR" sz="2100" dirty="0"/>
          </a:p>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예시 체험 별도 분리</a:t>
            </a:r>
            <a:endParaRPr lang="ko-KR" sz="2100" dirty="0"/>
          </a:p>
        </p:txBody>
      </p:sp>
      <p:sp>
        <p:nvSpPr>
          <p:cNvPr id="14" name="Shape 12"/>
          <p:cNvSpPr/>
          <p:nvPr/>
        </p:nvSpPr>
        <p:spPr>
          <a:xfrm>
            <a:off x="594360" y="3438144"/>
            <a:ext cx="11000232" cy="868680"/>
          </a:xfrm>
          <a:prstGeom prst="rect">
            <a:avLst/>
          </a:prstGeom>
          <a:solidFill>
            <a:srgbClr val="FFFFFF"/>
          </a:solidFill>
          <a:ln w="10160">
            <a:solidFill>
              <a:srgbClr val="D9E4E0"/>
            </a:solidFill>
            <a:prstDash val="solid"/>
          </a:ln>
        </p:spPr>
      </p:sp>
      <p:sp>
        <p:nvSpPr>
          <p:cNvPr id="15" name="Text 13"/>
          <p:cNvSpPr/>
          <p:nvPr/>
        </p:nvSpPr>
        <p:spPr>
          <a:xfrm>
            <a:off x="841248" y="3685032"/>
            <a:ext cx="1316736" cy="320040"/>
          </a:xfrm>
          <a:prstGeom prst="rect">
            <a:avLst/>
          </a:prstGeom>
          <a:noFill/>
          <a:ln/>
        </p:spPr>
        <p:txBody>
          <a:bodyPr wrap="square" lIns="0" tIns="0" rIns="0" bIns="0" rtlCol="0" anchor="ctr"/>
          <a:lstStyle/>
          <a:p>
            <a:pPr indent="0" marL="0">
              <a:buNone/>
            </a:pPr>
            <a:r>
              <a:rPr lang="ko-KR" altLang="en-US" sz="2100" b="1" dirty="0">
                <a:solidFill>
                  <a:srgbClr val="3C57B5"/>
                </a:solidFill>
                <a:latin typeface="Noto Sans CJK KR" pitchFamily="34" charset="0"/>
                <a:ea typeface="Noto Sans CJK KR" pitchFamily="34" charset="-122"/>
                <a:cs typeface="Noto Sans CJK KR" pitchFamily="34" charset="-120"/>
              </a:rPr>
              <a:t>화면 순서</a:t>
            </a:r>
            <a:endParaRPr lang="ko-KR" sz="2100" dirty="0"/>
          </a:p>
        </p:txBody>
      </p:sp>
      <p:sp>
        <p:nvSpPr>
          <p:cNvPr id="16" name="Text 14"/>
          <p:cNvSpPr/>
          <p:nvPr/>
        </p:nvSpPr>
        <p:spPr>
          <a:xfrm>
            <a:off x="2340864" y="3584448"/>
            <a:ext cx="3584448" cy="576072"/>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기능 나열</a:t>
            </a:r>
            <a:endParaRPr lang="ko-KR" sz="2100" dirty="0"/>
          </a:p>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다음 행동 강조 부족</a:t>
            </a:r>
            <a:endParaRPr lang="ko-KR" sz="2100" dirty="0"/>
          </a:p>
        </p:txBody>
      </p:sp>
      <p:sp>
        <p:nvSpPr>
          <p:cNvPr id="17" name="Text 15"/>
          <p:cNvSpPr/>
          <p:nvPr/>
        </p:nvSpPr>
        <p:spPr>
          <a:xfrm>
            <a:off x="5989320" y="3712464"/>
            <a:ext cx="329184" cy="301752"/>
          </a:xfrm>
          <a:prstGeom prst="rect">
            <a:avLst/>
          </a:prstGeom>
          <a:noFill/>
          <a:ln/>
        </p:spPr>
        <p:txBody>
          <a:bodyPr wrap="square" lIns="0" tIns="0" rIns="0" bIns="0" rtlCol="0" anchor="ctr"/>
          <a:lstStyle/>
          <a:p>
            <a:pPr indent="0" marL="0">
              <a:buNone/>
            </a:pPr>
            <a:r>
              <a:rPr lang="ko-KR" altLang="en-US" sz="2000" dirty="0">
                <a:solidFill>
                  <a:srgbClr val="646C7D"/>
                </a:solidFill>
                <a:latin typeface="Noto Sans CJK KR" pitchFamily="34" charset="0"/>
                <a:ea typeface="Noto Sans CJK KR" pitchFamily="34" charset="-122"/>
                <a:cs typeface="Noto Sans CJK KR" pitchFamily="34" charset="-120"/>
              </a:rPr>
              <a:t>→</a:t>
            </a:r>
            <a:endParaRPr lang="ko-KR" sz="2000" dirty="0"/>
          </a:p>
        </p:txBody>
      </p:sp>
      <p:sp>
        <p:nvSpPr>
          <p:cNvPr id="18" name="Text 16"/>
          <p:cNvSpPr/>
          <p:nvPr/>
        </p:nvSpPr>
        <p:spPr>
          <a:xfrm>
            <a:off x="6629400" y="3584448"/>
            <a:ext cx="4599432" cy="576072"/>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준비 행동 우선 표시</a:t>
            </a:r>
            <a:endParaRPr lang="ko-KR" sz="2100" dirty="0"/>
          </a:p>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커트 준비 3단계 안내</a:t>
            </a:r>
            <a:endParaRPr lang="ko-KR" sz="2100" dirty="0"/>
          </a:p>
        </p:txBody>
      </p:sp>
      <p:sp>
        <p:nvSpPr>
          <p:cNvPr id="19" name="Shape 17"/>
          <p:cNvSpPr/>
          <p:nvPr/>
        </p:nvSpPr>
        <p:spPr>
          <a:xfrm>
            <a:off x="594360" y="4462272"/>
            <a:ext cx="11000232" cy="868680"/>
          </a:xfrm>
          <a:prstGeom prst="rect">
            <a:avLst/>
          </a:prstGeom>
          <a:solidFill>
            <a:srgbClr val="FFFFFF"/>
          </a:solidFill>
          <a:ln w="10160">
            <a:solidFill>
              <a:srgbClr val="D9E4E0"/>
            </a:solidFill>
            <a:prstDash val="solid"/>
          </a:ln>
        </p:spPr>
      </p:sp>
      <p:sp>
        <p:nvSpPr>
          <p:cNvPr id="20" name="Text 18"/>
          <p:cNvSpPr/>
          <p:nvPr/>
        </p:nvSpPr>
        <p:spPr>
          <a:xfrm>
            <a:off x="841248" y="4709160"/>
            <a:ext cx="1316736" cy="320040"/>
          </a:xfrm>
          <a:prstGeom prst="rect">
            <a:avLst/>
          </a:prstGeom>
          <a:noFill/>
          <a:ln/>
        </p:spPr>
        <p:txBody>
          <a:bodyPr wrap="square" lIns="0" tIns="0" rIns="0" bIns="0" rtlCol="0" anchor="ctr"/>
          <a:lstStyle/>
          <a:p>
            <a:pPr indent="0" marL="0">
              <a:buNone/>
            </a:pPr>
            <a:r>
              <a:rPr lang="ko-KR" altLang="en-US" sz="2100" b="1" dirty="0">
                <a:solidFill>
                  <a:srgbClr val="3C57B5"/>
                </a:solidFill>
                <a:latin typeface="Noto Sans CJK KR" pitchFamily="34" charset="0"/>
                <a:ea typeface="Noto Sans CJK KR" pitchFamily="34" charset="-122"/>
                <a:cs typeface="Noto Sans CJK KR" pitchFamily="34" charset="-120"/>
              </a:rPr>
              <a:t>입력 동작</a:t>
            </a:r>
            <a:endParaRPr lang="ko-KR" sz="2100" dirty="0"/>
          </a:p>
        </p:txBody>
      </p:sp>
      <p:sp>
        <p:nvSpPr>
          <p:cNvPr id="21" name="Text 19"/>
          <p:cNvSpPr/>
          <p:nvPr/>
        </p:nvSpPr>
        <p:spPr>
          <a:xfrm>
            <a:off x="2340864" y="4608576"/>
            <a:ext cx="3584448" cy="576072"/>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지역 형식 날짜</a:t>
            </a:r>
            <a:endParaRPr lang="ko-KR" sz="2100" dirty="0"/>
          </a:p>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선택 정보 즉시 열림·닫힘</a:t>
            </a:r>
            <a:endParaRPr lang="ko-KR" sz="2100" dirty="0"/>
          </a:p>
        </p:txBody>
      </p:sp>
      <p:sp>
        <p:nvSpPr>
          <p:cNvPr id="22" name="Text 20"/>
          <p:cNvSpPr/>
          <p:nvPr/>
        </p:nvSpPr>
        <p:spPr>
          <a:xfrm>
            <a:off x="5989320" y="4736592"/>
            <a:ext cx="329184" cy="301752"/>
          </a:xfrm>
          <a:prstGeom prst="rect">
            <a:avLst/>
          </a:prstGeom>
          <a:noFill/>
          <a:ln/>
        </p:spPr>
        <p:txBody>
          <a:bodyPr wrap="square" lIns="0" tIns="0" rIns="0" bIns="0" rtlCol="0" anchor="ctr"/>
          <a:lstStyle/>
          <a:p>
            <a:pPr indent="0" marL="0">
              <a:buNone/>
            </a:pPr>
            <a:r>
              <a:rPr lang="ko-KR" altLang="en-US" sz="2000" dirty="0">
                <a:solidFill>
                  <a:srgbClr val="646C7D"/>
                </a:solidFill>
                <a:latin typeface="Noto Sans CJK KR" pitchFamily="34" charset="0"/>
                <a:ea typeface="Noto Sans CJK KR" pitchFamily="34" charset="-122"/>
                <a:cs typeface="Noto Sans CJK KR" pitchFamily="34" charset="-120"/>
              </a:rPr>
              <a:t>→</a:t>
            </a:r>
            <a:endParaRPr lang="ko-KR" sz="2000" dirty="0"/>
          </a:p>
        </p:txBody>
      </p:sp>
      <p:sp>
        <p:nvSpPr>
          <p:cNvPr id="23" name="Text 21"/>
          <p:cNvSpPr/>
          <p:nvPr/>
        </p:nvSpPr>
        <p:spPr>
          <a:xfrm>
            <a:off x="6629400" y="4608576"/>
            <a:ext cx="4599432" cy="576072"/>
          </a:xfrm>
          <a:prstGeom prst="rect">
            <a:avLst/>
          </a:prstGeom>
          <a:noFill/>
          <a:ln/>
        </p:spPr>
        <p:txBody>
          <a:bodyPr wrap="square" lIns="0" tIns="0" rIns="0" bIns="0" rtlCol="0" anchor="ctr"/>
          <a:lstStyle/>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연·월·일 날짜 표시</a:t>
            </a:r>
            <a:endParaRPr lang="ko-KR" sz="2100" dirty="0"/>
          </a:p>
          <a:p>
            <a:pPr indent="0" marL="0">
              <a:buNone/>
            </a:pPr>
            <a:r>
              <a:rPr lang="ko-KR" altLang="en-US" sz="2100" b="1" dirty="0">
                <a:solidFill>
                  <a:srgbClr val="155E59"/>
                </a:solidFill>
                <a:latin typeface="Noto Sans CJK KR" pitchFamily="34" charset="0"/>
                <a:ea typeface="Noto Sans CJK KR" pitchFamily="34" charset="-122"/>
                <a:cs typeface="Noto Sans CJK KR" pitchFamily="34" charset="-120"/>
              </a:rPr>
              <a:t>선택 정보 펼침 전환</a:t>
            </a:r>
            <a:endParaRPr lang="ko-KR" sz="2100" dirty="0"/>
          </a:p>
        </p:txBody>
      </p:sp>
      <p:sp>
        <p:nvSpPr>
          <p:cNvPr id="24" name="Shape 22"/>
          <p:cNvSpPr/>
          <p:nvPr/>
        </p:nvSpPr>
        <p:spPr>
          <a:xfrm>
            <a:off x="594360" y="5641848"/>
            <a:ext cx="11000232" cy="512064"/>
          </a:xfrm>
          <a:prstGeom prst="rect">
            <a:avLst/>
          </a:prstGeom>
          <a:solidFill>
            <a:srgbClr val="E8F2EE"/>
          </a:solidFill>
          <a:ln w="10160">
            <a:solidFill>
              <a:srgbClr val="E8F2EE"/>
            </a:solidFill>
            <a:prstDash val="solid"/>
          </a:ln>
        </p:spPr>
      </p:sp>
      <p:sp>
        <p:nvSpPr>
          <p:cNvPr id="25" name="Text 23"/>
          <p:cNvSpPr/>
          <p:nvPr/>
        </p:nvSpPr>
        <p:spPr>
          <a:xfrm>
            <a:off x="859536" y="5733288"/>
            <a:ext cx="10460736" cy="320040"/>
          </a:xfrm>
          <a:prstGeom prst="rect">
            <a:avLst/>
          </a:prstGeom>
          <a:noFill/>
          <a:ln/>
        </p:spPr>
        <p:txBody>
          <a:bodyPr wrap="square" lIns="0" tIns="0" rIns="0" bIns="0" rtlCol="0" anchor="ctr"/>
          <a:lstStyle/>
          <a:p>
            <a:pPr indent="0" marL="0">
              <a:buNone/>
            </a:pPr>
            <a:r>
              <a:rPr lang="ko-KR" altLang="en-US" sz="2000" b="1" dirty="0">
                <a:solidFill>
                  <a:srgbClr val="155E59"/>
                </a:solidFill>
                <a:latin typeface="Noto Sans CJK KR" pitchFamily="34" charset="0"/>
                <a:ea typeface="Noto Sans CJK KR" pitchFamily="34" charset="-122"/>
                <a:cs typeface="Noto Sans CJK KR" pitchFamily="34" charset="-120"/>
              </a:rPr>
              <a:t>PC·모바일 화면 54개 / 실제 인증 11개 통과</a:t>
            </a:r>
            <a:endParaRPr lang="ko-K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94360" y="365760"/>
            <a:ext cx="8229600" cy="274320"/>
          </a:xfrm>
          <a:prstGeom prst="rect">
            <a:avLst/>
          </a:prstGeom>
          <a:noFill/>
          <a:ln/>
        </p:spPr>
        <p:txBody>
          <a:bodyPr wrap="square" lIns="0" tIns="0" rIns="0" bIns="0" rtlCol="0" anchor="ctr"/>
          <a:lstStyle/>
          <a:p>
            <a:pPr indent="0" marL="0">
              <a:buNone/>
            </a:pPr>
            <a:r>
              <a:rPr lang="ko-KR" altLang="en-US" sz="1500" b="1" dirty="0">
                <a:solidFill>
                  <a:srgbClr val="3C57B5"/>
                </a:solidFill>
                <a:latin typeface="Noto Sans CJK KR" pitchFamily="34" charset="0"/>
                <a:ea typeface="Noto Sans CJK KR" pitchFamily="34" charset="-122"/>
                <a:cs typeface="Noto Sans CJK KR" pitchFamily="34" charset="-120"/>
              </a:rPr>
              <a:t>SALU · 7주차 개발 진행상황</a:t>
            </a:r>
            <a:endParaRPr lang="ko-KR" sz="1500" dirty="0"/>
          </a:p>
        </p:txBody>
      </p:sp>
      <p:sp>
        <p:nvSpPr>
          <p:cNvPr id="3" name="Text 1"/>
          <p:cNvSpPr/>
          <p:nvPr/>
        </p:nvSpPr>
        <p:spPr>
          <a:xfrm>
            <a:off x="594360" y="914400"/>
            <a:ext cx="10972800" cy="548640"/>
          </a:xfrm>
          <a:prstGeom prst="rect">
            <a:avLst/>
          </a:prstGeom>
          <a:noFill/>
          <a:ln/>
        </p:spPr>
        <p:txBody>
          <a:bodyPr wrap="square" lIns="0" tIns="0" rIns="0" bIns="0" rtlCol="0" anchor="ctr"/>
          <a:lstStyle/>
          <a:p>
            <a:pPr indent="0" marL="0">
              <a:buNone/>
            </a:pPr>
            <a:r>
              <a:rPr lang="ko-KR" altLang="en-US" sz="3100" b="1" dirty="0">
                <a:solidFill>
                  <a:srgbClr val="202A3E"/>
                </a:solidFill>
                <a:latin typeface="Noto Sans CJK KR" pitchFamily="34" charset="0"/>
                <a:ea typeface="Noto Sans CJK KR" pitchFamily="34" charset="-122"/>
                <a:cs typeface="Noto Sans CJK KR" pitchFamily="34" charset="-120"/>
              </a:rPr>
              <a:t>남은 작업과 다음 순서</a:t>
            </a:r>
            <a:endParaRPr lang="ko-KR" sz="3100" dirty="0"/>
          </a:p>
        </p:txBody>
      </p:sp>
      <p:sp>
        <p:nvSpPr>
          <p:cNvPr id="4" name="Shape 2"/>
          <p:cNvSpPr/>
          <p:nvPr/>
        </p:nvSpPr>
        <p:spPr>
          <a:xfrm>
            <a:off x="594360" y="6428232"/>
            <a:ext cx="11000232" cy="0"/>
          </a:xfrm>
          <a:prstGeom prst="line">
            <a:avLst/>
          </a:prstGeom>
          <a:noFill/>
          <a:ln w="12700">
            <a:solidFill>
              <a:srgbClr val="D9E4E0"/>
            </a:solidFill>
            <a:prstDash val="solid"/>
          </a:ln>
        </p:spPr>
      </p:sp>
      <p:sp>
        <p:nvSpPr>
          <p:cNvPr id="5" name="Text 3"/>
          <p:cNvSpPr/>
          <p:nvPr/>
        </p:nvSpPr>
        <p:spPr>
          <a:xfrm>
            <a:off x="594360" y="6519672"/>
            <a:ext cx="822960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진행보고안 · 2026.10.10 기준</a:t>
            </a:r>
            <a:endParaRPr lang="ko-KR" sz="1000" dirty="0"/>
          </a:p>
        </p:txBody>
      </p:sp>
      <p:sp>
        <p:nvSpPr>
          <p:cNvPr id="6" name="Text 4"/>
          <p:cNvSpPr/>
          <p:nvPr/>
        </p:nvSpPr>
        <p:spPr>
          <a:xfrm>
            <a:off x="9262872" y="6510528"/>
            <a:ext cx="2331720" cy="201168"/>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4 / 4</a:t>
            </a:r>
            <a:endParaRPr lang="ko-KR" sz="1000" dirty="0"/>
          </a:p>
        </p:txBody>
      </p:sp>
      <p:sp>
        <p:nvSpPr>
          <p:cNvPr id="7" name="Text 5"/>
          <p:cNvSpPr/>
          <p:nvPr/>
        </p:nvSpPr>
        <p:spPr>
          <a:xfrm>
            <a:off x="768096" y="2057400"/>
            <a:ext cx="640080" cy="393192"/>
          </a:xfrm>
          <a:prstGeom prst="rect">
            <a:avLst/>
          </a:prstGeom>
          <a:noFill/>
          <a:ln/>
        </p:spPr>
        <p:txBody>
          <a:bodyPr wrap="square" lIns="0" tIns="0" rIns="0" bIns="0" rtlCol="0" anchor="ctr"/>
          <a:lstStyle/>
          <a:p>
            <a:pPr indent="0" marL="0">
              <a:buNone/>
            </a:pPr>
            <a:r>
              <a:rPr lang="ko-KR" altLang="en-US" sz="2300" b="1" dirty="0">
                <a:solidFill>
                  <a:srgbClr val="3C57B5"/>
                </a:solidFill>
                <a:latin typeface="Noto Sans CJK KR" pitchFamily="34" charset="0"/>
                <a:ea typeface="Noto Sans CJK KR" pitchFamily="34" charset="-122"/>
                <a:cs typeface="Noto Sans CJK KR" pitchFamily="34" charset="-120"/>
              </a:rPr>
              <a:t>01</a:t>
            </a:r>
            <a:endParaRPr lang="ko-KR" sz="2300" dirty="0"/>
          </a:p>
        </p:txBody>
      </p:sp>
      <p:sp>
        <p:nvSpPr>
          <p:cNvPr id="8" name="Text 6"/>
          <p:cNvSpPr/>
          <p:nvPr/>
        </p:nvSpPr>
        <p:spPr>
          <a:xfrm>
            <a:off x="1627632" y="2020824"/>
            <a:ext cx="2487168" cy="41148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기록 보존</a:t>
            </a:r>
            <a:endParaRPr lang="ko-KR" sz="2300" dirty="0"/>
          </a:p>
        </p:txBody>
      </p:sp>
      <p:sp>
        <p:nvSpPr>
          <p:cNvPr id="9" name="Text 7"/>
          <p:cNvSpPr/>
          <p:nvPr/>
        </p:nvSpPr>
        <p:spPr>
          <a:xfrm>
            <a:off x="4370832" y="2057400"/>
            <a:ext cx="7004304" cy="502920"/>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저장 범위 확정 → 커트·경과 저장·재조회</a:t>
            </a:r>
            <a:endParaRPr lang="ko-KR" sz="2100" dirty="0"/>
          </a:p>
        </p:txBody>
      </p:sp>
      <p:sp>
        <p:nvSpPr>
          <p:cNvPr id="10" name="Shape 8"/>
          <p:cNvSpPr/>
          <p:nvPr/>
        </p:nvSpPr>
        <p:spPr>
          <a:xfrm>
            <a:off x="768096" y="2724912"/>
            <a:ext cx="10607040" cy="0"/>
          </a:xfrm>
          <a:prstGeom prst="line">
            <a:avLst/>
          </a:prstGeom>
          <a:noFill/>
          <a:ln w="12700">
            <a:solidFill>
              <a:srgbClr val="D9E4E0"/>
            </a:solidFill>
            <a:prstDash val="solid"/>
          </a:ln>
        </p:spPr>
      </p:sp>
      <p:sp>
        <p:nvSpPr>
          <p:cNvPr id="11" name="Text 9"/>
          <p:cNvSpPr/>
          <p:nvPr/>
        </p:nvSpPr>
        <p:spPr>
          <a:xfrm>
            <a:off x="768096" y="3063240"/>
            <a:ext cx="640080" cy="393192"/>
          </a:xfrm>
          <a:prstGeom prst="rect">
            <a:avLst/>
          </a:prstGeom>
          <a:noFill/>
          <a:ln/>
        </p:spPr>
        <p:txBody>
          <a:bodyPr wrap="square" lIns="0" tIns="0" rIns="0" bIns="0" rtlCol="0" anchor="ctr"/>
          <a:lstStyle/>
          <a:p>
            <a:pPr indent="0" marL="0">
              <a:buNone/>
            </a:pPr>
            <a:r>
              <a:rPr lang="ko-KR" altLang="en-US" sz="2300" b="1" dirty="0">
                <a:solidFill>
                  <a:srgbClr val="3C57B5"/>
                </a:solidFill>
                <a:latin typeface="Noto Sans CJK KR" pitchFamily="34" charset="0"/>
                <a:ea typeface="Noto Sans CJK KR" pitchFamily="34" charset="-122"/>
                <a:cs typeface="Noto Sans CJK KR" pitchFamily="34" charset="-120"/>
              </a:rPr>
              <a:t>02</a:t>
            </a:r>
            <a:endParaRPr lang="ko-KR" sz="2300" dirty="0"/>
          </a:p>
        </p:txBody>
      </p:sp>
      <p:sp>
        <p:nvSpPr>
          <p:cNvPr id="12" name="Text 10"/>
          <p:cNvSpPr/>
          <p:nvPr/>
        </p:nvSpPr>
        <p:spPr>
          <a:xfrm>
            <a:off x="1627632" y="3026664"/>
            <a:ext cx="2487168" cy="41148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계정별 기록</a:t>
            </a:r>
            <a:endParaRPr lang="ko-KR" sz="2300" dirty="0"/>
          </a:p>
        </p:txBody>
      </p:sp>
      <p:sp>
        <p:nvSpPr>
          <p:cNvPr id="13" name="Text 11"/>
          <p:cNvSpPr/>
          <p:nvPr/>
        </p:nvSpPr>
        <p:spPr>
          <a:xfrm>
            <a:off x="4370832" y="3063240"/>
            <a:ext cx="7004304" cy="502920"/>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서버 소유권 연결 → 타인 접근 검증</a:t>
            </a:r>
            <a:endParaRPr lang="ko-KR" sz="2100" dirty="0"/>
          </a:p>
        </p:txBody>
      </p:sp>
      <p:sp>
        <p:nvSpPr>
          <p:cNvPr id="14" name="Shape 12"/>
          <p:cNvSpPr/>
          <p:nvPr/>
        </p:nvSpPr>
        <p:spPr>
          <a:xfrm>
            <a:off x="768096" y="3730752"/>
            <a:ext cx="10607040" cy="0"/>
          </a:xfrm>
          <a:prstGeom prst="line">
            <a:avLst/>
          </a:prstGeom>
          <a:noFill/>
          <a:ln w="12700">
            <a:solidFill>
              <a:srgbClr val="D9E4E0"/>
            </a:solidFill>
            <a:prstDash val="solid"/>
          </a:ln>
        </p:spPr>
      </p:sp>
      <p:sp>
        <p:nvSpPr>
          <p:cNvPr id="15" name="Text 13"/>
          <p:cNvSpPr/>
          <p:nvPr/>
        </p:nvSpPr>
        <p:spPr>
          <a:xfrm>
            <a:off x="768096" y="4069080"/>
            <a:ext cx="640080" cy="393192"/>
          </a:xfrm>
          <a:prstGeom prst="rect">
            <a:avLst/>
          </a:prstGeom>
          <a:noFill/>
          <a:ln/>
        </p:spPr>
        <p:txBody>
          <a:bodyPr wrap="square" lIns="0" tIns="0" rIns="0" bIns="0" rtlCol="0" anchor="ctr"/>
          <a:lstStyle/>
          <a:p>
            <a:pPr indent="0" marL="0">
              <a:buNone/>
            </a:pPr>
            <a:r>
              <a:rPr lang="ko-KR" altLang="en-US" sz="2300" b="1" dirty="0">
                <a:solidFill>
                  <a:srgbClr val="3C57B5"/>
                </a:solidFill>
                <a:latin typeface="Noto Sans CJK KR" pitchFamily="34" charset="0"/>
                <a:ea typeface="Noto Sans CJK KR" pitchFamily="34" charset="-122"/>
                <a:cs typeface="Noto Sans CJK KR" pitchFamily="34" charset="-120"/>
              </a:rPr>
              <a:t>03</a:t>
            </a:r>
            <a:endParaRPr lang="ko-KR" sz="2300" dirty="0"/>
          </a:p>
        </p:txBody>
      </p:sp>
      <p:sp>
        <p:nvSpPr>
          <p:cNvPr id="16" name="Text 14"/>
          <p:cNvSpPr/>
          <p:nvPr/>
        </p:nvSpPr>
        <p:spPr>
          <a:xfrm>
            <a:off x="1627632" y="4032504"/>
            <a:ext cx="2487168" cy="411480"/>
          </a:xfrm>
          <a:prstGeom prst="rect">
            <a:avLst/>
          </a:prstGeom>
          <a:noFill/>
          <a:ln/>
        </p:spPr>
        <p:txBody>
          <a:bodyPr wrap="square" lIns="0" tIns="0" rIns="0" bIns="0" rtlCol="0" anchor="ctr"/>
          <a:lstStyle/>
          <a:p>
            <a:pPr indent="0" marL="0">
              <a:buNone/>
            </a:pPr>
            <a:r>
              <a:rPr lang="ko-KR" altLang="en-US" sz="2300" b="1" dirty="0">
                <a:solidFill>
                  <a:srgbClr val="202A3E"/>
                </a:solidFill>
                <a:latin typeface="Noto Sans CJK KR" pitchFamily="34" charset="0"/>
                <a:ea typeface="Noto Sans CJK KR" pitchFamily="34" charset="-122"/>
                <a:cs typeface="Noto Sans CJK KR" pitchFamily="34" charset="-120"/>
              </a:rPr>
              <a:t>실제 상담</a:t>
            </a:r>
            <a:endParaRPr lang="ko-KR" sz="2300" dirty="0"/>
          </a:p>
        </p:txBody>
      </p:sp>
      <p:sp>
        <p:nvSpPr>
          <p:cNvPr id="17" name="Text 15"/>
          <p:cNvSpPr/>
          <p:nvPr/>
        </p:nvSpPr>
        <p:spPr>
          <a:xfrm>
            <a:off x="4370832" y="4069080"/>
            <a:ext cx="7004304" cy="502920"/>
          </a:xfrm>
          <a:prstGeom prst="rect">
            <a:avLst/>
          </a:prstGeom>
          <a:noFill/>
          <a:ln/>
        </p:spPr>
        <p:txBody>
          <a:bodyPr wrap="square" lIns="0" tIns="0" rIns="0" bIns="0" rtlCol="0" anchor="ctr"/>
          <a:lstStyle/>
          <a:p>
            <a:pPr indent="0" marL="0">
              <a:buNone/>
            </a:pPr>
            <a:r>
              <a:rPr lang="ko-KR" altLang="en-US" sz="2100" dirty="0">
                <a:solidFill>
                  <a:srgbClr val="202A3E"/>
                </a:solidFill>
                <a:latin typeface="Noto Sans CJK KR" pitchFamily="34" charset="0"/>
                <a:ea typeface="Noto Sans CJK KR" pitchFamily="34" charset="-122"/>
                <a:cs typeface="Noto Sans CJK KR" pitchFamily="34" charset="-120"/>
              </a:rPr>
              <a:t>프로필·선택 자료 전송 → 두 계정 질문·답변</a:t>
            </a:r>
            <a:endParaRPr lang="ko-KR" sz="2100" dirty="0"/>
          </a:p>
        </p:txBody>
      </p:sp>
      <p:sp>
        <p:nvSpPr>
          <p:cNvPr id="18" name="Shape 16"/>
          <p:cNvSpPr/>
          <p:nvPr/>
        </p:nvSpPr>
        <p:spPr>
          <a:xfrm>
            <a:off x="768096" y="4736592"/>
            <a:ext cx="10607040" cy="0"/>
          </a:xfrm>
          <a:prstGeom prst="line">
            <a:avLst/>
          </a:prstGeom>
          <a:noFill/>
          <a:ln w="12700">
            <a:solidFill>
              <a:srgbClr val="D9E4E0"/>
            </a:solidFill>
            <a:prstDash val="solid"/>
          </a:ln>
        </p:spPr>
      </p:sp>
      <p:sp>
        <p:nvSpPr>
          <p:cNvPr id="19" name="Shape 17"/>
          <p:cNvSpPr/>
          <p:nvPr/>
        </p:nvSpPr>
        <p:spPr>
          <a:xfrm>
            <a:off x="594360" y="5230368"/>
            <a:ext cx="11000232" cy="576072"/>
          </a:xfrm>
          <a:prstGeom prst="rect">
            <a:avLst/>
          </a:prstGeom>
          <a:solidFill>
            <a:srgbClr val="F7EBE3"/>
          </a:solidFill>
          <a:ln w="10160">
            <a:solidFill>
              <a:srgbClr val="F7EBE3"/>
            </a:solidFill>
            <a:prstDash val="solid"/>
          </a:ln>
        </p:spPr>
      </p:sp>
      <p:sp>
        <p:nvSpPr>
          <p:cNvPr id="20" name="Text 18"/>
          <p:cNvSpPr/>
          <p:nvPr/>
        </p:nvSpPr>
        <p:spPr>
          <a:xfrm>
            <a:off x="859536" y="5349240"/>
            <a:ext cx="10460736" cy="310896"/>
          </a:xfrm>
          <a:prstGeom prst="rect">
            <a:avLst/>
          </a:prstGeom>
          <a:noFill/>
          <a:ln/>
        </p:spPr>
        <p:txBody>
          <a:bodyPr wrap="square" lIns="0" tIns="0" rIns="0" bIns="0" rtlCol="0" anchor="ctr"/>
          <a:lstStyle/>
          <a:p>
            <a:pPr indent="0" marL="0">
              <a:buNone/>
            </a:pPr>
            <a:r>
              <a:rPr lang="ko-KR" altLang="en-US" sz="1900" b="1" dirty="0">
                <a:solidFill>
                  <a:srgbClr val="B96237"/>
                </a:solidFill>
                <a:latin typeface="Noto Sans CJK KR" pitchFamily="34" charset="0"/>
                <a:ea typeface="Noto Sans CJK KR" pitchFamily="34" charset="-122"/>
                <a:cs typeface="Noto Sans CJK KR" pitchFamily="34" charset="-120"/>
              </a:rPr>
              <a:t>현재 기록: 이번 접속만 보관 / 새로고침·인증 전환 시 소실</a:t>
            </a:r>
            <a:endParaRPr lang="ko-KR" sz="1900" dirty="0"/>
          </a:p>
        </p:txBody>
      </p:sp>
      <p:sp>
        <p:nvSpPr>
          <p:cNvPr id="21" name="Text 19"/>
          <p:cNvSpPr/>
          <p:nvPr/>
        </p:nvSpPr>
        <p:spPr>
          <a:xfrm>
            <a:off x="749808" y="5980176"/>
            <a:ext cx="10707624" cy="320040"/>
          </a:xfrm>
          <a:prstGeom prst="rect">
            <a:avLst/>
          </a:prstGeom>
          <a:noFill/>
          <a:ln/>
        </p:spPr>
        <p:txBody>
          <a:bodyPr wrap="square" lIns="0" tIns="0" rIns="0" bIns="0" rtlCol="0" anchor="ctr"/>
          <a:lstStyle/>
          <a:p>
            <a:pPr indent="0" marL="0">
              <a:buNone/>
            </a:pPr>
            <a:r>
              <a:rPr lang="ko-KR" altLang="en-US" sz="1900" dirty="0">
                <a:solidFill>
                  <a:srgbClr val="646C7D"/>
                </a:solidFill>
                <a:latin typeface="Noto Sans CJK KR" pitchFamily="34" charset="0"/>
                <a:ea typeface="Noto Sans CJK KR" pitchFamily="34" charset="-122"/>
                <a:cs typeface="Noto Sans CJK KR" pitchFamily="34" charset="-120"/>
              </a:rPr>
              <a:t>8주차 시험 · 발표 없음 / 이후 일정은 작업량 확인 후 조정</a:t>
            </a:r>
            <a:endParaRPr lang="ko-KR" sz="1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name="Slide 5">
    <p:bg>
      <p:bgPr>
        <a:solidFill>
          <a:srgbClr val="F8FAF9"/>
        </a:solidFill>
      </p:bgPr>
    </p:bg>
    <p:spTree>
      <p:nvGrpSpPr>
        <p:cNvPr id="1" name=""/>
        <p:cNvGrpSpPr/>
        <p:nvPr/>
      </p:nvGrpSpPr>
      <p:grpSpPr>
        <a:xfrm>
          <a:off x="0" y="0"/>
          <a:ext cx="0" cy="0"/>
          <a:chOff x="0" y="0"/>
          <a:chExt cx="0" cy="0"/>
        </a:xfrm>
      </p:grpSpPr>
      <p:sp>
        <p:nvSpPr>
          <p:cNvPr id="2" name="Text 0"/>
          <p:cNvSpPr/>
          <p:nvPr/>
        </p:nvSpPr>
        <p:spPr>
          <a:xfrm>
            <a:off x="594360" y="365760"/>
            <a:ext cx="8229600" cy="274320"/>
          </a:xfrm>
          <a:prstGeom prst="rect">
            <a:avLst/>
          </a:prstGeom>
          <a:noFill/>
          <a:ln/>
        </p:spPr>
        <p:txBody>
          <a:bodyPr wrap="square" lIns="0" tIns="0" rIns="0" bIns="0" rtlCol="0" anchor="ctr"/>
          <a:lstStyle/>
          <a:p>
            <a:pPr indent="0" marL="0">
              <a:buNone/>
            </a:pPr>
            <a:r>
              <a:rPr lang="ko-KR" altLang="en-US" sz="1500" b="1" dirty="0">
                <a:solidFill>
                  <a:srgbClr val="3C57B5"/>
                </a:solidFill>
                <a:latin typeface="Noto Sans CJK KR" pitchFamily="34" charset="0"/>
                <a:ea typeface="Noto Sans CJK KR" pitchFamily="34" charset="-122"/>
                <a:cs typeface="Noto Sans CJK KR" pitchFamily="34" charset="-120"/>
              </a:rPr>
              <a:t>SALU · 7주차 개발 진행상황</a:t>
            </a:r>
            <a:endParaRPr lang="ko-KR" sz="1500" dirty="0"/>
          </a:p>
        </p:txBody>
      </p:sp>
      <p:sp>
        <p:nvSpPr>
          <p:cNvPr id="3" name="Text 1"/>
          <p:cNvSpPr/>
          <p:nvPr/>
        </p:nvSpPr>
        <p:spPr>
          <a:xfrm>
            <a:off x="594360" y="914400"/>
            <a:ext cx="10972800" cy="548640"/>
          </a:xfrm>
          <a:prstGeom prst="rect">
            <a:avLst/>
          </a:prstGeom>
          <a:noFill/>
          <a:ln/>
        </p:spPr>
        <p:txBody>
          <a:bodyPr wrap="square" lIns="0" tIns="0" rIns="0" bIns="0" rtlCol="0" anchor="ctr"/>
          <a:lstStyle/>
          <a:p>
            <a:pPr indent="0" marL="0">
              <a:buNone/>
            </a:pPr>
            <a:r>
              <a:rPr lang="ko-KR" altLang="en-US" sz="3100" b="1" dirty="0">
                <a:solidFill>
                  <a:srgbClr val="202A3E"/>
                </a:solidFill>
                <a:latin typeface="Noto Sans CJK KR" pitchFamily="34" charset="0"/>
                <a:ea typeface="Noto Sans CJK KR" pitchFamily="34" charset="-122"/>
                <a:cs typeface="Noto Sans CJK KR" pitchFamily="34" charset="-120"/>
              </a:rPr>
              <a:t>보충: 검증 범위</a:t>
            </a:r>
            <a:endParaRPr lang="ko-KR" sz="3100" dirty="0"/>
          </a:p>
        </p:txBody>
      </p:sp>
      <p:sp>
        <p:nvSpPr>
          <p:cNvPr id="4" name="Shape 2"/>
          <p:cNvSpPr/>
          <p:nvPr/>
        </p:nvSpPr>
        <p:spPr>
          <a:xfrm>
            <a:off x="594360" y="6428232"/>
            <a:ext cx="11000232" cy="0"/>
          </a:xfrm>
          <a:prstGeom prst="line">
            <a:avLst/>
          </a:prstGeom>
          <a:noFill/>
          <a:ln w="12700">
            <a:solidFill>
              <a:srgbClr val="D9E4E0"/>
            </a:solidFill>
            <a:prstDash val="solid"/>
          </a:ln>
        </p:spPr>
      </p:sp>
      <p:sp>
        <p:nvSpPr>
          <p:cNvPr id="5" name="Text 3"/>
          <p:cNvSpPr/>
          <p:nvPr/>
        </p:nvSpPr>
        <p:spPr>
          <a:xfrm>
            <a:off x="594360" y="6519672"/>
            <a:ext cx="8229600" cy="182880"/>
          </a:xfrm>
          <a:prstGeom prst="rect">
            <a:avLst/>
          </a:prstGeom>
          <a:noFill/>
          <a:ln/>
        </p:spPr>
        <p:txBody>
          <a:bodyPr wrap="square" lIns="0" tIns="0" rIns="0" bIns="0" rtlCol="0" anchor="ctr"/>
          <a:lstStyle/>
          <a:p>
            <a:pP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진행보고안 · 2026.10.10 기준</a:t>
            </a:r>
            <a:endParaRPr lang="ko-KR" sz="1000" dirty="0"/>
          </a:p>
        </p:txBody>
      </p:sp>
      <p:sp>
        <p:nvSpPr>
          <p:cNvPr id="6" name="Text 4"/>
          <p:cNvSpPr/>
          <p:nvPr/>
        </p:nvSpPr>
        <p:spPr>
          <a:xfrm>
            <a:off x="9262872" y="6510528"/>
            <a:ext cx="2331720" cy="201168"/>
          </a:xfrm>
          <a:prstGeom prst="rect">
            <a:avLst/>
          </a:prstGeom>
          <a:noFill/>
          <a:ln/>
        </p:spPr>
        <p:txBody>
          <a:bodyPr wrap="square" lIns="0" tIns="0" rIns="0" bIns="0" rtlCol="0" anchor="ctr"/>
          <a:lstStyle/>
          <a:p>
            <a:pPr algn="r" indent="0" marL="0">
              <a:buNone/>
            </a:pPr>
            <a:r>
              <a:rPr lang="ko-KR" altLang="en-US" sz="1000" dirty="0">
                <a:solidFill>
                  <a:srgbClr val="646C7D"/>
                </a:solidFill>
                <a:latin typeface="Noto Sans CJK KR" pitchFamily="34" charset="0"/>
                <a:ea typeface="Noto Sans CJK KR" pitchFamily="34" charset="-122"/>
                <a:cs typeface="Noto Sans CJK KR" pitchFamily="34" charset="-120"/>
              </a:rPr>
              <a:t>보충 · 검증 범위</a:t>
            </a:r>
            <a:endParaRPr lang="ko-KR" sz="1000" dirty="0"/>
          </a:p>
        </p:txBody>
      </p:sp>
      <p:sp>
        <p:nvSpPr>
          <p:cNvPr id="7" name="Text 5"/>
          <p:cNvSpPr/>
          <p:nvPr/>
        </p:nvSpPr>
        <p:spPr>
          <a:xfrm>
            <a:off x="804672" y="1938528"/>
            <a:ext cx="2834640" cy="393192"/>
          </a:xfrm>
          <a:prstGeom prst="rect">
            <a:avLst/>
          </a:prstGeom>
          <a:noFill/>
          <a:ln/>
        </p:spPr>
        <p:txBody>
          <a:bodyPr wrap="square" lIns="0" tIns="0" rIns="0" bIns="0" rtlCol="0" anchor="ctr"/>
          <a:lstStyle/>
          <a:p>
            <a:pPr indent="0" marL="0">
              <a:buNone/>
            </a:pPr>
            <a:r>
              <a:rPr lang="ko-KR" altLang="en-US" sz="2500" b="1" dirty="0">
                <a:solidFill>
                  <a:srgbClr val="155E59"/>
                </a:solidFill>
                <a:latin typeface="Noto Sans CJK KR" pitchFamily="34" charset="0"/>
                <a:ea typeface="Noto Sans CJK KR" pitchFamily="34" charset="-122"/>
                <a:cs typeface="Noto Sans CJK KR" pitchFamily="34" charset="-120"/>
              </a:rPr>
              <a:t>화면 흐름</a:t>
            </a:r>
            <a:endParaRPr lang="ko-KR" sz="2500" dirty="0"/>
          </a:p>
        </p:txBody>
      </p:sp>
      <p:sp>
        <p:nvSpPr>
          <p:cNvPr id="8" name="Text 6"/>
          <p:cNvSpPr/>
          <p:nvPr/>
        </p:nvSpPr>
        <p:spPr>
          <a:xfrm>
            <a:off x="3794760" y="1938528"/>
            <a:ext cx="7525512" cy="393192"/>
          </a:xfrm>
          <a:prstGeom prst="rect">
            <a:avLst/>
          </a:prstGeom>
          <a:noFill/>
          <a:ln/>
        </p:spPr>
        <p:txBody>
          <a:bodyPr wrap="square" lIns="0" tIns="0" rIns="0" bIns="0" rtlCol="0" anchor="ctr"/>
          <a:lstStyle/>
          <a:p>
            <a:pPr indent="0" marL="0">
              <a:buNone/>
            </a:pPr>
            <a:r>
              <a:rPr lang="ko-KR" altLang="en-US" sz="2400" dirty="0">
                <a:solidFill>
                  <a:srgbClr val="202A3E"/>
                </a:solidFill>
                <a:latin typeface="Noto Sans CJK KR" pitchFamily="34" charset="0"/>
                <a:ea typeface="Noto Sans CJK KR" pitchFamily="34" charset="-122"/>
                <a:cs typeface="Noto Sans CJK KR" pitchFamily="34" charset="-120"/>
              </a:rPr>
              <a:t>PC 27 + 모바일 27 = 54개 통과</a:t>
            </a:r>
            <a:endParaRPr lang="ko-KR" sz="2400" dirty="0"/>
          </a:p>
        </p:txBody>
      </p:sp>
      <p:sp>
        <p:nvSpPr>
          <p:cNvPr id="9" name="Text 7"/>
          <p:cNvSpPr/>
          <p:nvPr/>
        </p:nvSpPr>
        <p:spPr>
          <a:xfrm>
            <a:off x="3803904" y="2523744"/>
            <a:ext cx="7479792" cy="402336"/>
          </a:xfrm>
          <a:prstGeom prst="rect">
            <a:avLst/>
          </a:prstGeom>
          <a:noFill/>
          <a:ln/>
        </p:spPr>
        <p:txBody>
          <a:bodyPr wrap="square" lIns="0" tIns="0" rIns="0" bIns="0" rtlCol="0" anchor="ctr"/>
          <a:lstStyle/>
          <a:p>
            <a:pPr indent="0" marL="0">
              <a:buNone/>
            </a:pPr>
            <a:r>
              <a:rPr lang="ko-KR" altLang="en-US" sz="2000" dirty="0">
                <a:solidFill>
                  <a:srgbClr val="646C7D"/>
                </a:solidFill>
                <a:latin typeface="Noto Sans CJK KR" pitchFamily="34" charset="0"/>
                <a:ea typeface="Noto Sans CJK KR" pitchFamily="34" charset="-122"/>
                <a:cs typeface="Noto Sans CJK KR" pitchFamily="34" charset="-120"/>
              </a:rPr>
              <a:t>입력·수정·선택·초안 재진입·개인/예시 분리</a:t>
            </a:r>
            <a:endParaRPr lang="ko-KR" sz="2000" dirty="0"/>
          </a:p>
        </p:txBody>
      </p:sp>
      <p:sp>
        <p:nvSpPr>
          <p:cNvPr id="10" name="Shape 8"/>
          <p:cNvSpPr/>
          <p:nvPr/>
        </p:nvSpPr>
        <p:spPr>
          <a:xfrm>
            <a:off x="795528" y="3227832"/>
            <a:ext cx="10552176" cy="0"/>
          </a:xfrm>
          <a:prstGeom prst="line">
            <a:avLst/>
          </a:prstGeom>
          <a:noFill/>
          <a:ln w="12700">
            <a:solidFill>
              <a:srgbClr val="D9E4E0"/>
            </a:solidFill>
            <a:prstDash val="solid"/>
          </a:ln>
        </p:spPr>
      </p:sp>
      <p:sp>
        <p:nvSpPr>
          <p:cNvPr id="11" name="Text 9"/>
          <p:cNvSpPr/>
          <p:nvPr/>
        </p:nvSpPr>
        <p:spPr>
          <a:xfrm>
            <a:off x="804672" y="3621024"/>
            <a:ext cx="2834640" cy="393192"/>
          </a:xfrm>
          <a:prstGeom prst="rect">
            <a:avLst/>
          </a:prstGeom>
          <a:noFill/>
          <a:ln/>
        </p:spPr>
        <p:txBody>
          <a:bodyPr wrap="square" lIns="0" tIns="0" rIns="0" bIns="0" rtlCol="0" anchor="ctr"/>
          <a:lstStyle/>
          <a:p>
            <a:pPr indent="0" marL="0">
              <a:buNone/>
            </a:pPr>
            <a:r>
              <a:rPr lang="ko-KR" altLang="en-US" sz="2500" b="1" dirty="0">
                <a:solidFill>
                  <a:srgbClr val="3C57B5"/>
                </a:solidFill>
                <a:latin typeface="Noto Sans CJK KR" pitchFamily="34" charset="0"/>
                <a:ea typeface="Noto Sans CJK KR" pitchFamily="34" charset="-122"/>
                <a:cs typeface="Noto Sans CJK KR" pitchFamily="34" charset="-120"/>
              </a:rPr>
              <a:t>실제 인증</a:t>
            </a:r>
            <a:endParaRPr lang="ko-KR" sz="2500" dirty="0"/>
          </a:p>
        </p:txBody>
      </p:sp>
      <p:sp>
        <p:nvSpPr>
          <p:cNvPr id="12" name="Text 10"/>
          <p:cNvSpPr/>
          <p:nvPr/>
        </p:nvSpPr>
        <p:spPr>
          <a:xfrm>
            <a:off x="3794760" y="3621024"/>
            <a:ext cx="7525512" cy="393192"/>
          </a:xfrm>
          <a:prstGeom prst="rect">
            <a:avLst/>
          </a:prstGeom>
          <a:noFill/>
          <a:ln/>
        </p:spPr>
        <p:txBody>
          <a:bodyPr wrap="square" lIns="0" tIns="0" rIns="0" bIns="0" rtlCol="0" anchor="ctr"/>
          <a:lstStyle/>
          <a:p>
            <a:pPr indent="0" marL="0">
              <a:buNone/>
            </a:pPr>
            <a:r>
              <a:rPr lang="ko-KR" altLang="en-US" sz="2400" dirty="0">
                <a:solidFill>
                  <a:srgbClr val="202A3E"/>
                </a:solidFill>
                <a:latin typeface="Noto Sans CJK KR" pitchFamily="34" charset="0"/>
                <a:ea typeface="Noto Sans CJK KR" pitchFamily="34" charset="-122"/>
                <a:cs typeface="Noto Sans CJK KR" pitchFamily="34" charset="-120"/>
              </a:rPr>
              <a:t>Spring·MySQL 연결 / 11개 통과</a:t>
            </a:r>
            <a:endParaRPr lang="ko-KR" sz="2400" dirty="0"/>
          </a:p>
        </p:txBody>
      </p:sp>
      <p:sp>
        <p:nvSpPr>
          <p:cNvPr id="13" name="Text 11"/>
          <p:cNvSpPr/>
          <p:nvPr/>
        </p:nvSpPr>
        <p:spPr>
          <a:xfrm>
            <a:off x="3803904" y="4215384"/>
            <a:ext cx="7479792" cy="402336"/>
          </a:xfrm>
          <a:prstGeom prst="rect">
            <a:avLst/>
          </a:prstGeom>
          <a:noFill/>
          <a:ln/>
        </p:spPr>
        <p:txBody>
          <a:bodyPr wrap="square" lIns="0" tIns="0" rIns="0" bIns="0" rtlCol="0" anchor="ctr"/>
          <a:lstStyle/>
          <a:p>
            <a:pPr indent="0" marL="0">
              <a:buNone/>
            </a:pPr>
            <a:r>
              <a:rPr lang="ko-KR" altLang="en-US" sz="2000" dirty="0">
                <a:solidFill>
                  <a:srgbClr val="646C7D"/>
                </a:solidFill>
                <a:latin typeface="Noto Sans CJK KR" pitchFamily="34" charset="0"/>
                <a:ea typeface="Noto Sans CJK KR" pitchFamily="34" charset="-122"/>
                <a:cs typeface="Noto Sans CJK KR" pitchFamily="34" charset="-120"/>
              </a:rPr>
              <a:t>로그인·회원 확인·세션·로그아웃·CSRF</a:t>
            </a:r>
            <a:endParaRPr lang="ko-KR" sz="2000" dirty="0"/>
          </a:p>
        </p:txBody>
      </p:sp>
      <p:sp>
        <p:nvSpPr>
          <p:cNvPr id="14" name="Shape 12"/>
          <p:cNvSpPr/>
          <p:nvPr/>
        </p:nvSpPr>
        <p:spPr>
          <a:xfrm>
            <a:off x="594360" y="5084064"/>
            <a:ext cx="11000232" cy="932688"/>
          </a:xfrm>
          <a:prstGeom prst="rect">
            <a:avLst/>
          </a:prstGeom>
          <a:solidFill>
            <a:srgbClr val="F7EBE3"/>
          </a:solidFill>
          <a:ln w="10160">
            <a:solidFill>
              <a:srgbClr val="F7EBE3"/>
            </a:solidFill>
            <a:prstDash val="solid"/>
          </a:ln>
        </p:spPr>
      </p:sp>
      <p:sp>
        <p:nvSpPr>
          <p:cNvPr id="15" name="Text 13"/>
          <p:cNvSpPr/>
          <p:nvPr/>
        </p:nvSpPr>
        <p:spPr>
          <a:xfrm>
            <a:off x="832104" y="5257800"/>
            <a:ext cx="2852928" cy="301752"/>
          </a:xfrm>
          <a:prstGeom prst="rect">
            <a:avLst/>
          </a:prstGeom>
          <a:noFill/>
          <a:ln/>
        </p:spPr>
        <p:txBody>
          <a:bodyPr wrap="square" lIns="0" tIns="0" rIns="0" bIns="0" rtlCol="0" anchor="ctr"/>
          <a:lstStyle/>
          <a:p>
            <a:pPr indent="0" marL="0">
              <a:buNone/>
            </a:pPr>
            <a:r>
              <a:rPr lang="ko-KR" altLang="en-US" sz="2000" b="1" dirty="0">
                <a:solidFill>
                  <a:srgbClr val="B96237"/>
                </a:solidFill>
                <a:latin typeface="Noto Sans CJK KR" pitchFamily="34" charset="0"/>
                <a:ea typeface="Noto Sans CJK KR" pitchFamily="34" charset="-122"/>
                <a:cs typeface="Noto Sans CJK KR" pitchFamily="34" charset="-120"/>
              </a:rPr>
              <a:t>별도 후속 검증</a:t>
            </a:r>
            <a:endParaRPr lang="ko-KR" sz="2000" dirty="0"/>
          </a:p>
        </p:txBody>
      </p:sp>
      <p:sp>
        <p:nvSpPr>
          <p:cNvPr id="16" name="Text 14"/>
          <p:cNvSpPr/>
          <p:nvPr/>
        </p:nvSpPr>
        <p:spPr>
          <a:xfrm>
            <a:off x="3794760" y="5257800"/>
            <a:ext cx="7406640" cy="548640"/>
          </a:xfrm>
          <a:prstGeom prst="rect">
            <a:avLst/>
          </a:prstGeom>
          <a:noFill/>
          <a:ln/>
        </p:spPr>
        <p:txBody>
          <a:bodyPr wrap="square" lIns="0" tIns="0" rIns="0" bIns="0" rtlCol="0" anchor="ctr"/>
          <a:lstStyle/>
          <a:p>
            <a:pPr indent="0" marL="0">
              <a:buNone/>
            </a:pPr>
            <a:r>
              <a:rPr lang="ko-KR" altLang="en-US" sz="2000" dirty="0">
                <a:solidFill>
                  <a:srgbClr val="202A3E"/>
                </a:solidFill>
                <a:latin typeface="Noto Sans CJK KR" pitchFamily="34" charset="0"/>
                <a:ea typeface="Noto Sans CJK KR" pitchFamily="34" charset="-122"/>
                <a:cs typeface="Noto Sans CJK KR" pitchFamily="34" charset="-120"/>
              </a:rPr>
              <a:t>기록 영구 저장·소유권 / 사진 업로드 / 실제 상담 왕복</a:t>
            </a:r>
            <a:endParaRPr lang="ko-KR"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SALU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SALU 7주차 개발 진행보고 개조식안</dc:title>
  <dc:subject>6주차 예고와 현재 구현·개발 중 보완·후속 작업의 비교</dc:subject>
  <dc:creator>SALU</dc:creator>
  <cp:lastModifiedBy>SALU</cp:lastModifiedBy>
  <cp:revision>1</cp:revision>
  <dcterms:created xsi:type="dcterms:W3CDTF">2026-10-10T15:03:36Z</dcterms:created>
  <dcterms:modified xsi:type="dcterms:W3CDTF">2026-10-10T15:03:36Z</dcterms:modified>
</cp:coreProperties>
</file>